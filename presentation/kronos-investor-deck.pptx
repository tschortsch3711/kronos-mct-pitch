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Organizations</c:v>
                </c:pt>
              </c:strCache>
            </c:strRef>
          </c:tx>
          <c:spPr>
            <a:solidFill>
              <a:srgbClr val="E087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AF0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University research labs (EE/materials)</c:v>
                  </c:pt>
                  <c:pt idx="1">
                    <c:v>Corporate R&amp;D — medtech SMEs</c:v>
                  </c:pt>
                  <c:pt idx="2">
                    <c:v>Corporate R&amp;D — electronics OEMs</c:v>
                  </c:pt>
                  <c:pt idx="3">
                    <c:v>Education — HAW / eng. colleges</c:v>
                  </c:pt>
                  <c:pt idx="4">
                    <c:v>Automotive suppliers (IME, sensors)</c:v>
                  </c:pt>
                  <c:pt idx="5">
                    <c:v>Aerospace &amp; defense R&amp;D sites</c:v>
                  </c:pt>
                  <c:pt idx="6">
                    <c:v>Research institutes / RTOs</c:v>
                  </c:pt>
                  <c:pt idx="7">
                    <c:v>EMS &amp; PCB prototyping services</c:v>
                  </c:pt>
                  <c:pt idx="8">
                    <c:v>FabLabs (institutional) + startups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1450</c:v>
                </c:pt>
                <c:pt idx="1">
                  <c:v>1900</c:v>
                </c:pt>
                <c:pt idx="2">
                  <c:v>1800</c:v>
                </c:pt>
                <c:pt idx="3">
                  <c:v>1350</c:v>
                </c:pt>
                <c:pt idx="4">
                  <c:v>1100</c:v>
                </c:pt>
                <c:pt idx="5">
                  <c:v>900</c:v>
                </c:pt>
                <c:pt idx="6">
                  <c:v>700</c:v>
                </c:pt>
                <c:pt idx="7">
                  <c:v>700</c:v>
                </c:pt>
                <c:pt idx="8">
                  <c:v>450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AF0F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A0B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0"/>
          <c:min val="0"/>
        </c:scaling>
        <c:delete val="0"/>
        <c:axPos val="b"/>
        <c:majorGridlines>
          <c:spPr>
            <a:ln w="6350" cap="flat">
              <a:solidFill>
                <a:srgbClr val="1C263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A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4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 2031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873A"/>
              </a:solidFill>
              <a:ln w="19050" cap="flat">
                <a:solidFill>
                  <a:srgbClr val="0B0F14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3FB8C9"/>
              </a:solidFill>
              <a:ln w="19050" cap="flat">
                <a:solidFill>
                  <a:srgbClr val="0B0F14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8A5A9E"/>
              </a:solidFill>
              <a:ln w="19050" cap="flat">
                <a:solidFill>
                  <a:srgbClr val="0B0F14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5BBD8B"/>
              </a:solidFill>
              <a:ln w="19050" cap="flat">
                <a:solidFill>
                  <a:srgbClr val="0B0F14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C9A227"/>
              </a:solidFill>
              <a:ln w="19050" cap="flat">
                <a:solidFill>
                  <a:srgbClr val="0B0F14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Machines 74%</c:v>
                </c:pt>
                <c:pt idx="1">
                  <c:v>Consumables 11%</c:v>
                </c:pt>
                <c:pt idx="2">
                  <c:v>Services/NRE 7%</c:v>
                </c:pt>
                <c:pt idx="3">
                  <c:v>Maintenance 5%</c:v>
                </c:pt>
                <c:pt idx="4">
                  <c:v>Software 3%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74</c:v>
                </c:pt>
                <c:pt idx="1">
                  <c:v>11</c:v>
                </c:pt>
                <c:pt idx="2">
                  <c:v>7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</c:ser>
        <c:firstSliceAng val="0"/>
        <c:holeSize val="62"/>
      </c:doughnutChart>
      <c:spPr>
        <a:solidFill>
          <a:srgbClr val="0B0F1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8FA0B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Machines</c:v>
                </c:pt>
              </c:strCache>
            </c:strRef>
          </c:tx>
          <c:spPr>
            <a:solidFill>
              <a:srgbClr val="E087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0.62</c:v>
                </c:pt>
                <c:pt idx="1">
                  <c:v>1.94</c:v>
                </c:pt>
                <c:pt idx="2">
                  <c:v>4.3</c:v>
                </c:pt>
                <c:pt idx="3">
                  <c:v>7.58</c:v>
                </c:pt>
                <c:pt idx="4">
                  <c:v>11.75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Recurring (mat.+svc+SW)</c:v>
                </c:pt>
              </c:strCache>
            </c:strRef>
          </c:tx>
          <c:spPr>
            <a:solidFill>
              <a:srgbClr val="3FB8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0.04</c:v>
                </c:pt>
                <c:pt idx="1">
                  <c:v>0.22</c:v>
                </c:pt>
                <c:pt idx="2">
                  <c:v>0.67</c:v>
                </c:pt>
                <c:pt idx="3">
                  <c:v>1.56</c:v>
                </c:pt>
                <c:pt idx="4">
                  <c:v>3.02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Application projects</c:v>
                </c:pt>
              </c:strCache>
            </c:strRef>
          </c:tx>
          <c:spPr>
            <a:solidFill>
              <a:srgbClr val="8A5A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0.3</c:v>
                </c:pt>
                <c:pt idx="1">
                  <c:v>0.5</c:v>
                </c:pt>
                <c:pt idx="2">
                  <c:v>0.8</c:v>
                </c:pt>
                <c:pt idx="3">
                  <c:v>1</c:v>
                </c:pt>
                <c:pt idx="4">
                  <c:v>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100"/>
        <c:axId val="2094734554"/>
        <c:axId val="2094734552"/>
        <c:axId val="2094734556"/>
      </c:bar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5BBD8B"/>
            </a:solidFill>
            <a:ln w="31750" cap="flat">
              <a:solidFill>
                <a:srgbClr val="5BBD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5BBD8B"/>
              </a:solidFill>
              <a:ln w="9525" cap="flat">
                <a:solidFill>
                  <a:srgbClr val="5BBD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-2.02</c:v>
                </c:pt>
                <c:pt idx="1">
                  <c:v>-1.94</c:v>
                </c:pt>
                <c:pt idx="2">
                  <c:v>-1.82</c:v>
                </c:pt>
                <c:pt idx="3">
                  <c:v>-0.84</c:v>
                </c:pt>
                <c:pt idx="4">
                  <c:v>1.05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0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-3"/>
        </c:scaling>
        <c:delete val="0"/>
        <c:axPos val="l"/>
        <c:majorGridlines>
          <c:spPr>
            <a:ln w="6350" cap="flat">
              <a:solidFill>
                <a:srgbClr val="1C263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A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FA0B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Vision: KRONOS Eos verlagert bewiesene 5-Achs-AME-Technologie in das leere 25-100k-Preisband. Alle Zahlen: financial-model.xlsx, Evidenzstufen research/assumptions.md.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Struktur: T1 2,5M validiert; T2 4,5M industrialisiert; T3 4-5M skaliert. Konservativ-Szenario = No-Go (Slide 17). Erwartungswert ~3x MOIC bei 30/45/25-Gewichtung.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Quellen: Handelsregister HRB 43784, VoxelMatters/APES-PR, GitHub-Verifikation (Helios 1.0/1.1, Aion-5X SDK, Team). Details: research/company-analysis.md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Bottom-up-Herleitung der Einheiten: research/appendix/dossier-verification-2.md. Nano-Exit: 3DPrint.com 04/2026. Neotech: IN 771/24.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Schwellen: DFG (200k Uni/100k HAW), EU 221k subzentral, Vergaberechtsreform 2025 Direktauftrag 100k, NSF MRI min 100k$. Quellen: research/sources.md §5.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Preisevidenz: Aniwaa, Voltera Store, East Value Research, Design World, Tender-Records. Vollständige Landkarte: research/competitors.md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vier Datenpunkte Stufe A (live verifiziert): Voltera About, LPKF FY2024-Presse, Formlabs Form-4-PR, XTPL IR 01/2026.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Populationstabelle: research/assumptions.md §5, Segmentdetails research/customer-segments.md §1. Relevanzfilter je Segment dokumentiert.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Opportunity-Matrix mit 10 Segmenten und Scoring: research/customer-segments.md §2-3. Long-term: EMS-Kleinserie, IME-Serienökosystem, APAC.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JTBD aus Segment-Analyse (research/customer-segments.md §3). Anwendungen: gedruckte Antennen, konforme Sensorik, Heizstrukturen, IME-Vorstufen, Mikrofluidik-Elektronik.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Vollprofile aller Anbieter inkl. Preisevidenz: research/competitors.md. † = ausgeschieden (Insolvenz/Exit).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Vollspezifikation inkl. bewusst entfernter Features und Ziel-BOM: business-plan/business-plan.md §2.2. Preise = Arbeitshypothese (D), Van-Westendorp in Gate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SDK bereits öffentlich (GitHub verifiziert) — Ökosystem-Ansatz ersetzt das liquidierte J.A.M.E.S. Fencing-Metriken: Upsell-Quote Eos→Hyperion wird gemessen.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Wiederkehrender Umsatz 2031 Base: 3,0 M€ = 19% und steigend. Details: business-plan.md §3, Modell-Sheet 'Base'.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Rechenweg: research/assumptions.md §5, market-analysis.md §7. Band-Expansion kalibriert an Formlabs-Elastizität (konservatives Ende) + Beschaffungsreform + Defense-Pull.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Zahlen aus financial-model.xlsx (formelvalidiert): Umsatz 0,96/2,66/5,78/10,1/16,0 M€; EBITDA -2,0/-1,9/-1,8/-0,8/+1,05 M€. Sensitivität: Stückzahlen und COGS dominieren.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Exit-Multiples: 1,0x/2,0x/3,0x Umsatz (Niche-HW-Comps; Markforged 1,2x). Returns-Sheet im XLSX. Tranchen kappen Downside auf 2,5 M€ bis Gate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GTM-Details: business-plan.md §4. Kanalökonomie: 25% Kanal ab 2028 mit 30% Rabatt; CAC-Annahme messe-zentriert.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Stage-Gate-Plan mit STOP-Szenarien: business-plan.md §9. Fördermittel 0,8-3,3 M€ (ZIM sicher, EIC als Hebel) + WC-Linie ~2 M€ ergänzen die Tranchen zur 13,2-M€-Deckung.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Vollständige No-Go-Bedingungen und die 10 Investorenfragen: business-plan/investment-thesis.md. Erwartungswert ~3x MOIC (30/45/25-Gewichtung, Exit J7).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9525">
            <a:solidFill>
              <a:srgbClr val="1016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98280" y="0"/>
            <a:ext cx="0" cy="6858000"/>
          </a:xfrm>
          <a:prstGeom prst="line">
            <a:avLst/>
          </a:prstGeom>
          <a:noFill/>
          <a:ln w="9525">
            <a:solidFill>
              <a:srgbClr val="1016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9525">
            <a:solidFill>
              <a:srgbClr val="1016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04120" y="0"/>
            <a:ext cx="0" cy="6858000"/>
          </a:xfrm>
          <a:prstGeom prst="line">
            <a:avLst/>
          </a:prstGeom>
          <a:noFill/>
          <a:ln w="9525">
            <a:solidFill>
              <a:srgbClr val="1016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9525">
            <a:solidFill>
              <a:srgbClr val="1016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09960" y="0"/>
            <a:ext cx="0" cy="6858000"/>
          </a:xfrm>
          <a:prstGeom prst="line">
            <a:avLst/>
          </a:prstGeom>
          <a:noFill/>
          <a:ln w="9525">
            <a:solidFill>
              <a:srgbClr val="1016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9525">
            <a:solidFill>
              <a:srgbClr val="1016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20240"/>
            <a:ext cx="1828800" cy="0"/>
          </a:xfrm>
          <a:prstGeom prst="line">
            <a:avLst/>
          </a:prstGeom>
          <a:noFill/>
          <a:ln w="15875">
            <a:solidFill>
              <a:srgbClr val="E087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63724" y="1888236"/>
            <a:ext cx="68580" cy="68580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48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600" kern="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KRONOS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502920" y="3063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18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54864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dawn of accessible 3D-printed electronics.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48640" y="4709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case for a 25k–100k € five-axis AME platform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technology of the category's pioneer.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DUE DILIGENCE PACKAGE   ·   AUGUST 2026   ·   CONFIDENTIAL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option-structured bet on the vacant middle of 3D-printed electronics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122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148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€2.5M Tranche 1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€13.2M staged plan — committed only gate by gate.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2971800"/>
            <a:ext cx="329184" cy="329184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80" y="3044220"/>
            <a:ext cx="184343" cy="18434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80160" y="2916936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5-axis core technology — acquired at distressed cost from the Neotech insolvency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2960" y="3739896"/>
            <a:ext cx="329184" cy="329184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80" y="3812316"/>
            <a:ext cx="184343" cy="18434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80160" y="3685032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vendor able to put true 5-axis AME below every procurement threshold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22960" y="4507992"/>
            <a:ext cx="329184" cy="329184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80" y="4580412"/>
            <a:ext cx="184343" cy="18434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80160" y="4453128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leadership vacant: Nano Dimension exited AME in April 2026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22960" y="5276088"/>
            <a:ext cx="329184" cy="329184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80" y="5348508"/>
            <a:ext cx="184343" cy="18434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0160" y="5221224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framing: today's machine market is small — this is a market-creation bet with capped downside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1122"/>
            </a:avLst>
          </a:prstGeom>
          <a:solidFill>
            <a:srgbClr val="131A24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6492240" y="1828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staged €13.2M can build (Base case)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492240" y="23774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€16.0M</a:t>
            </a:r>
            <a:endParaRPr lang="en-US" sz="3400" dirty="0"/>
          </a:p>
        </p:txBody>
      </p:sp>
      <p:sp>
        <p:nvSpPr>
          <p:cNvPr id="28" name="Text 22"/>
          <p:cNvSpPr/>
          <p:nvPr/>
        </p:nvSpPr>
        <p:spPr>
          <a:xfrm>
            <a:off x="649224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2031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 case)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9006840" y="23774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452</a:t>
            </a:r>
            <a:endParaRPr lang="en-US" sz="3400" dirty="0"/>
          </a:p>
        </p:txBody>
      </p:sp>
      <p:sp>
        <p:nvSpPr>
          <p:cNvPr id="30" name="Text 24"/>
          <p:cNvSpPr/>
          <p:nvPr/>
        </p:nvSpPr>
        <p:spPr>
          <a:xfrm>
            <a:off x="900684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installed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2031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6492240" y="36576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3400" dirty="0"/>
          </a:p>
        </p:txBody>
      </p:sp>
      <p:sp>
        <p:nvSpPr>
          <p:cNvPr id="32" name="Text 26"/>
          <p:cNvSpPr/>
          <p:nvPr/>
        </p:nvSpPr>
        <p:spPr>
          <a:xfrm>
            <a:off x="6492240" y="4206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2031,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recurring revenue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9006840" y="36576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2031</a:t>
            </a:r>
            <a:endParaRPr lang="en-US" sz="3400" dirty="0"/>
          </a:p>
        </p:txBody>
      </p:sp>
      <p:sp>
        <p:nvSpPr>
          <p:cNvPr id="34" name="Text 28"/>
          <p:cNvSpPr/>
          <p:nvPr/>
        </p:nvSpPr>
        <p:spPr>
          <a:xfrm>
            <a:off x="9006840" y="4206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break-even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(Upside: 2030)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6492240" y="49377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B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11.4x</a:t>
            </a:r>
            <a:endParaRPr lang="en-US" sz="3400" dirty="0"/>
          </a:p>
        </p:txBody>
      </p:sp>
      <p:sp>
        <p:nvSpPr>
          <p:cNvPr id="36" name="Text 30"/>
          <p:cNvSpPr/>
          <p:nvPr/>
        </p:nvSpPr>
        <p:spPr>
          <a:xfrm>
            <a:off x="6492240" y="5486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 in the Upside path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(IRR ≈ 48%, exit yr 7)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9006840" y="49377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€2.5M</a:t>
            </a:r>
            <a:endParaRPr lang="en-US" sz="3400" dirty="0"/>
          </a:p>
        </p:txBody>
      </p:sp>
      <p:sp>
        <p:nvSpPr>
          <p:cNvPr id="38" name="Text 32"/>
          <p:cNvSpPr/>
          <p:nvPr/>
        </p:nvSpPr>
        <p:spPr>
          <a:xfrm>
            <a:off x="9006840" y="5486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at risk before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series-production gate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KRONOS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pioneer's technology, reborn as a startup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377440"/>
            <a:ext cx="10698480" cy="0"/>
          </a:xfrm>
          <a:prstGeom prst="line">
            <a:avLst/>
          </a:prstGeom>
          <a:noFill/>
          <a:ln w="12700">
            <a:solidFill>
              <a:srgbClr val="2A36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372" y="2336292"/>
            <a:ext cx="82296" cy="82296"/>
          </a:xfrm>
          <a:prstGeom prst="ellipse">
            <a:avLst/>
          </a:prstGeom>
          <a:solidFill>
            <a:srgbClr val="5A6A8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2009–10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5603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Neotech AMT develops 3D-printed electronics; installs world's first 5-axis 3D-PE system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48356" y="2336292"/>
            <a:ext cx="82296" cy="82296"/>
          </a:xfrm>
          <a:prstGeom prst="ellipse">
            <a:avLst/>
          </a:prstGeom>
          <a:solidFill>
            <a:srgbClr val="5A6A80"/>
          </a:solidFill>
          <a:ln/>
        </p:spPr>
      </p:sp>
      <p:sp>
        <p:nvSpPr>
          <p:cNvPr id="15" name="Text 13"/>
          <p:cNvSpPr/>
          <p:nvPr/>
        </p:nvSpPr>
        <p:spPr>
          <a:xfrm>
            <a:off x="2889504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89504" y="25603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mass-production install — printed 3D antennas, millions of parts per year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06340" y="2336292"/>
            <a:ext cx="82296" cy="82296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18" name="Text 16"/>
          <p:cNvSpPr/>
          <p:nvPr/>
        </p:nvSpPr>
        <p:spPr>
          <a:xfrm>
            <a:off x="5047488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47488" y="25603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Neotech insolvency (AG Nürnberg). KRONOS Mechatronics acquires the assets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64324" y="2336292"/>
            <a:ext cx="82296" cy="82296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21" name="Text 19"/>
          <p:cNvSpPr/>
          <p:nvPr/>
        </p:nvSpPr>
        <p:spPr>
          <a:xfrm>
            <a:off x="7205472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05472" y="25603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Relaunch Helios &amp; Hyperion · APES partnership (North America) · productronica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322308" y="2336292"/>
            <a:ext cx="82296" cy="82296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24" name="Text 22"/>
          <p:cNvSpPr/>
          <p:nvPr/>
        </p:nvSpPr>
        <p:spPr>
          <a:xfrm>
            <a:off x="9363456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B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63456" y="25603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LOPEC Start-up Award “Best Business Potential” · Aion-5X SDK published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977640"/>
            <a:ext cx="2706624" cy="2148840"/>
          </a:xfrm>
          <a:prstGeom prst="roundRect">
            <a:avLst>
              <a:gd name="adj" fmla="val 2340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4178808"/>
            <a:ext cx="365760" cy="365760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" y="4259275"/>
            <a:ext cx="204826" cy="20482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234440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749808" y="4690872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5-axis platforms, ±5 µm; piezo-jet, inkjet, dispensing, FFF; plasma, UV, milling, SMD placement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392424" y="3977640"/>
            <a:ext cx="2706624" cy="2148840"/>
          </a:xfrm>
          <a:prstGeom prst="roundRect">
            <a:avLst>
              <a:gd name="adj" fmla="val 2340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593592" y="4178808"/>
            <a:ext cx="365760" cy="365760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059" y="4259275"/>
            <a:ext cx="204826" cy="20482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078224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moat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3593592" y="4690872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Aion-5X CAD/CAM: 5-axis simultaneous toolpaths, collision simulation, AI vision QC — with public SDK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236208" y="3977640"/>
            <a:ext cx="2706624" cy="2148840"/>
          </a:xfrm>
          <a:prstGeom prst="roundRect">
            <a:avLst>
              <a:gd name="adj" fmla="val 2340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437376" y="4178808"/>
            <a:ext cx="365760" cy="365760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843" y="4259275"/>
            <a:ext cx="204826" cy="20482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922008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 &amp; visibility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6437376" y="4690872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APES + NTV (USA), Nürnberg AME cluster (FAPS/FAU), OE-A / LOPEC community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9079992" y="3977640"/>
            <a:ext cx="2706624" cy="2148840"/>
          </a:xfrm>
          <a:prstGeom prst="roundRect">
            <a:avLst>
              <a:gd name="adj" fmla="val 2340"/>
            </a:avLst>
          </a:prstGeom>
          <a:solidFill>
            <a:srgbClr val="241C1C"/>
          </a:solidFill>
          <a:ln w="9525">
            <a:solidFill>
              <a:srgbClr val="4A303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9281160" y="4178808"/>
            <a:ext cx="365760" cy="365760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1627" y="4259275"/>
            <a:ext cx="204826" cy="204826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9765792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gap</a:t>
            </a:r>
            <a:endParaRPr lang="en-US" sz="1150" dirty="0"/>
          </a:p>
        </p:txBody>
      </p:sp>
      <p:sp>
        <p:nvSpPr>
          <p:cNvPr id="45" name="Text 39"/>
          <p:cNvSpPr/>
          <p:nvPr/>
        </p:nvSpPr>
        <p:spPr>
          <a:xfrm>
            <a:off x="9281160" y="4690872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~6-person team, no verified sale since relaunch, patent chain-of-title unverified → gates V1–V7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Brilliant technology, trapped in a €200k+ project business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373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~100–190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 machines sold per year, worldwide, across all vendors (bottom-up)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0" y="17373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€15–28M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114800" y="2286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AME machine market today — smaller than one mid-size Mittelstand firm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0" y="17373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50–80%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589520" y="2286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placements are grant-funded research buys — one-off, non-repeating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11091672" cy="3017520"/>
          </a:xfrm>
          <a:prstGeom prst="roundRect">
            <a:avLst>
              <a:gd name="adj" fmla="val 1667"/>
            </a:avLst>
          </a:prstGeom>
          <a:solidFill>
            <a:srgbClr val="1A1616"/>
          </a:solidFill>
          <a:ln w="9525">
            <a:solidFill>
              <a:srgbClr val="4A303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4015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2024–2026: the category cleared itself out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886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Neotech AMT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2062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5-axis pioneer — insolvent July 2024 after ~20 years and ~50 systems. Its assets became KRONOS.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80560" y="3886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Dimension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80560" y="42062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~$1.5B. Sold ~51 DragonFly systems. Exited AME in April 2026 for $2M upfront — the leader left at scrap value.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138160" y="3886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J.A.M.E.S GmbH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138160" y="42062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Hensoldt-backed AME community platform — liquidated August 2025. The ecosystem lost its anchor.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54864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diagnosis: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player sold €150–500k project machines into a research niche. Nobody productized the technology for the budgets that actually buy lab equipment.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CURRENT MACHINES LIMIT THE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thresholds decide who can buy — today's prices sit above all of them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1783080"/>
            <a:ext cx="0" cy="4206240"/>
          </a:xfrm>
          <a:prstGeom prst="line">
            <a:avLst/>
          </a:prstGeom>
          <a:noFill/>
          <a:ln w="12700">
            <a:solidFill>
              <a:srgbClr val="2A36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250440"/>
            <a:ext cx="6274613" cy="0"/>
          </a:xfrm>
          <a:prstGeom prst="line">
            <a:avLst/>
          </a:prstGeom>
          <a:noFill/>
          <a:ln w="12700">
            <a:solidFill>
              <a:srgbClr val="D96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99440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DragonFly IV ≈ €400k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9728" y="2140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€400k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2960" y="2876702"/>
            <a:ext cx="6274613" cy="0"/>
          </a:xfrm>
          <a:prstGeom prst="line">
            <a:avLst/>
          </a:prstGeom>
          <a:noFill/>
          <a:ln w="12700">
            <a:solidFill>
              <a:srgbClr val="D96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262067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Optomec production ≈ €333k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9728" y="2766974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€333k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" y="3923589"/>
            <a:ext cx="6274613" cy="0"/>
          </a:xfrm>
          <a:prstGeom prst="line">
            <a:avLst/>
          </a:prstGeom>
          <a:noFill/>
          <a:ln w="12700">
            <a:solidFill>
              <a:srgbClr val="8FA0B5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932688" y="3667557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tender threshold — €221k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9728" y="3813861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€221k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2960" y="4119880"/>
            <a:ext cx="6274613" cy="0"/>
          </a:xfrm>
          <a:prstGeom prst="line">
            <a:avLst/>
          </a:prstGeom>
          <a:noFill/>
          <a:ln w="12700">
            <a:solidFill>
              <a:srgbClr val="8FA0B5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932688" y="41656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DFG review (university) — €200k  ·  Neotech 15X ≈ €200k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9728" y="401015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€200k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22960" y="5054600"/>
            <a:ext cx="6274613" cy="0"/>
          </a:xfrm>
          <a:prstGeom prst="line">
            <a:avLst/>
          </a:prstGeom>
          <a:noFill/>
          <a:ln w="12700">
            <a:solidFill>
              <a:srgbClr val="5BBD8B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932688" y="479856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B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direct award (2025) · DFG HAW · NSF MRI — all ≈ €/$100k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9728" y="494487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€100k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2960" y="5381752"/>
            <a:ext cx="6675120" cy="0"/>
          </a:xfrm>
          <a:prstGeom prst="line">
            <a:avLst/>
          </a:prstGeom>
          <a:noFill/>
          <a:ln w="31750">
            <a:solidFill>
              <a:srgbClr val="E087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542747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 FIVE — €65k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" y="5272024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€65k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63840" y="1783080"/>
            <a:ext cx="3776472" cy="4206240"/>
          </a:xfrm>
          <a:prstGeom prst="roundRect">
            <a:avLst>
              <a:gd name="adj" fmla="val 1332"/>
            </a:avLst>
          </a:prstGeom>
          <a:solidFill>
            <a:srgbClr val="131A24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38160" y="2011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€100k, a machine purchase changes species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38160" y="2788920"/>
            <a:ext cx="310896" cy="310896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6557" y="2857317"/>
            <a:ext cx="174102" cy="174102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558784" y="27432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EU tender, no DFG review — a department-level decision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8138160" y="3584448"/>
            <a:ext cx="310896" cy="310896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557" y="3652845"/>
            <a:ext cx="174102" cy="17410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8558784" y="35387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single US faculty startup package ($300–500k)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8138160" y="4379976"/>
            <a:ext cx="310896" cy="310896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557" y="4448373"/>
            <a:ext cx="174102" cy="17410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8558784" y="4334256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direct-award limit raised to €100k in 2025 — the door just opened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8138160" y="5175504"/>
            <a:ext cx="310896" cy="310896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557" y="5243901"/>
            <a:ext cx="174102" cy="174102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8558784" y="512978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window: weeks, not budget years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LOW-COST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25–100k € band is empty — for the machines that matter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828800"/>
            <a:ext cx="3108960" cy="3977640"/>
          </a:xfrm>
          <a:prstGeom prst="roundRect">
            <a:avLst>
              <a:gd name="adj" fmla="val 161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029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· &lt;€12k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51460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Voltera V-One  ·  ~$5k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BotFactory SV2  ·  ~$10k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nano3Dprint  ·  ~$5k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4114800"/>
            <a:ext cx="2651760" cy="0"/>
          </a:xfrm>
          <a:prstGeom prst="line">
            <a:avLst/>
          </a:prstGeom>
          <a:noFill/>
          <a:ln w="9525">
            <a:solidFill>
              <a:srgbClr val="2A36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25196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95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Planar, education-grade.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 Voltera units prove the buyer base exists.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0" y="1828800"/>
            <a:ext cx="4480560" cy="3977640"/>
          </a:xfrm>
          <a:prstGeom prst="roundRect">
            <a:avLst>
              <a:gd name="adj" fmla="val 1264"/>
            </a:avLst>
          </a:prstGeom>
          <a:solidFill>
            <a:srgbClr val="1E1A12"/>
          </a:solidFill>
          <a:ln w="9525">
            <a:solidFill>
              <a:srgbClr val="E0873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069080" y="2029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€25–100k · THE GAP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069080" y="25146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Voltera NOVA  ·  $46k  —  planar only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Fujifilm Dimatix  ·  ~$55k  —  planar only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LPKF ProtoMat  ·  subtractive milling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069080" y="4114800"/>
            <a:ext cx="4023360" cy="0"/>
          </a:xfrm>
          <a:prstGeom prst="line">
            <a:avLst/>
          </a:prstGeom>
          <a:noFill/>
          <a:ln w="9525">
            <a:solidFill>
              <a:srgbClr val="2A36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425196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i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five-axis / conformal AME system exists here.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i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defining capability of 3D electronics is absent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i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only band procurement loves.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59161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KRONOS EOS 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03920" y="1828800"/>
            <a:ext cx="3136392" cy="3977640"/>
          </a:xfrm>
          <a:prstGeom prst="roundRect">
            <a:avLst>
              <a:gd name="adj" fmla="val 1603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732520" y="2029968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· &gt;€150k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32520" y="2514600"/>
            <a:ext cx="26791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Neotech/KRONOS 15X-class · €200k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XTPL Delta  ·  €170–220k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Optomec, nScrypt  ·  €150–500k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732520" y="4114800"/>
            <a:ext cx="2679192" cy="0"/>
          </a:xfrm>
          <a:prstGeom prst="line">
            <a:avLst/>
          </a:prstGeom>
          <a:noFill/>
          <a:ln w="9525">
            <a:solidFill>
              <a:srgbClr val="2A36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32520" y="4251960"/>
            <a:ext cx="26791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95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Quote-only project machines.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tier that bankrupted its pioneer.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THE BAND BUYS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 at this price point sell in the thousands — just not additive 3D ones yet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83080"/>
            <a:ext cx="5394960" cy="1920240"/>
          </a:xfrm>
          <a:prstGeom prst="roundRect">
            <a:avLst>
              <a:gd name="adj" fmla="val 2619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198424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063240" y="198424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Voltera units shipped to 92 countries — NASA, MIT, Harvard, Stanford, Oxford among customers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154680"/>
            <a:ext cx="4846320" cy="0"/>
          </a:xfrm>
          <a:prstGeom prst="line">
            <a:avLst/>
          </a:prstGeom>
          <a:noFill/>
          <a:ln w="9525">
            <a:solidFill>
              <a:srgbClr val="2A36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universe is real and global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45352" y="1783080"/>
            <a:ext cx="5394960" cy="1920240"/>
          </a:xfrm>
          <a:prstGeom prst="roundRect">
            <a:avLst>
              <a:gd name="adj" fmla="val 2619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19672" y="198424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€26.2M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759952" y="198424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LPKF Development segment revenue 2024 — “thousands” of ProtoMat benchtop PCB machines installed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19672" y="3154680"/>
            <a:ext cx="4846320" cy="0"/>
          </a:xfrm>
          <a:prstGeom prst="line">
            <a:avLst/>
          </a:prstGeom>
          <a:noFill/>
          <a:ln w="9525">
            <a:solidFill>
              <a:srgbClr val="2A36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 labs pay 10–60k € for in-house prototyping, for decades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5394960" cy="1920240"/>
          </a:xfrm>
          <a:prstGeom prst="roundRect">
            <a:avLst>
              <a:gd name="adj" fmla="val 2619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08736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130,000+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063240" y="408736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Formlabs printers sold after cutting professional SLA prices ~10x — a $2B company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" y="5257800"/>
            <a:ext cx="4846320" cy="0"/>
          </a:xfrm>
          <a:prstGeom prst="line">
            <a:avLst/>
          </a:prstGeom>
          <a:noFill/>
          <a:ln w="9525">
            <a:solidFill>
              <a:srgbClr val="2A36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349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10x price-cut playbook works for professional machines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45352" y="3886200"/>
            <a:ext cx="5394960" cy="1920240"/>
          </a:xfrm>
          <a:prstGeom prst="roundRect">
            <a:avLst>
              <a:gd name="adj" fmla="val 2619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19672" y="408736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 / 13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759952" y="408736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XTPL Delta systems cumulative / delivered in 2025 alone at €170–220k — 71% research customers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19672" y="5257800"/>
            <a:ext cx="4846320" cy="0"/>
          </a:xfrm>
          <a:prstGeom prst="line">
            <a:avLst/>
          </a:prstGeom>
          <a:noFill/>
          <a:ln w="9525">
            <a:solidFill>
              <a:srgbClr val="2A36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9672" y="5349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at 3x our price, research demand is accelerating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CUSTOMER UNIVERSE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~10,000 organizations that could never buy a €250k machine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graphicFrame>
        <p:nvGraphicFramePr>
          <p:cNvPr id="10" name="Chart 0" descr=""/>
          <p:cNvGraphicFramePr/>
          <p:nvPr/>
        </p:nvGraphicFramePr>
        <p:xfrm>
          <a:off x="548640" y="1691640"/>
          <a:ext cx="7406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8183880" y="1691640"/>
            <a:ext cx="3456432" cy="4480560"/>
          </a:xfrm>
          <a:prstGeom prst="roundRect">
            <a:avLst>
              <a:gd name="adj" fmla="val 1455"/>
            </a:avLst>
          </a:prstGeom>
          <a:solidFill>
            <a:srgbClr val="131A24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412480" y="1920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Counted bottom-up, not asserted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12480" y="25146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963 research-active EE universities (Research.com) · 76 Fraunhofer institutes · ZVEI 1,100+ · CLEPA 3,000+ · MedTech Europe 38,000 (90% SME) · in4ma 2,160 EMS · relevance-filtered per segment.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412480" y="44348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~10,000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8412480" y="4983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organizations — vs. ~150 machines the industry sells per year today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SEGMENTATION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beachhead, two expansions — sequenced by procurement friction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83080"/>
            <a:ext cx="3931920" cy="4297680"/>
          </a:xfrm>
          <a:prstGeom prst="roundRect">
            <a:avLst>
              <a:gd name="adj" fmla="val 1279"/>
            </a:avLst>
          </a:prstGeom>
          <a:solidFill>
            <a:srgbClr val="1E1A12"/>
          </a:solidFill>
          <a:ln w="9525">
            <a:solidFill>
              <a:srgbClr val="E0873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1993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BEACHHEAD · YEAR 1–2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286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labs &amp; institutes (EU/NA)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77240" y="320040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~2,150 organizations, tender-free below €100k</a:t>
            </a:r>
            <a:endParaRPr lang="en-US" sz="1100" dirty="0"/>
          </a:p>
          <a:p>
            <a:pPr marL="127000" indent="-127000">
              <a:lnSpc>
                <a:spcPts val="14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 tolerant — research forgives v1.0</a:t>
            </a:r>
            <a:endParaRPr lang="en-US" sz="1100" dirty="0"/>
          </a:p>
          <a:p>
            <a:pPr marL="127000" indent="-127000">
              <a:lnSpc>
                <a:spcPts val="14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paper is a free reference (Voltera playbook)</a:t>
            </a:r>
            <a:endParaRPr lang="en-US" sz="1100" dirty="0"/>
          </a:p>
          <a:p>
            <a:pPr marL="127000" indent="-127000">
              <a:lnSpc>
                <a:spcPts val="14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home turf: FAPS cluster, LOPEC award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3474720" cy="4297680"/>
          </a:xfrm>
          <a:prstGeom prst="roundRect">
            <a:avLst>
              <a:gd name="adj" fmla="val 1447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993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F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· YEAR 2–3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286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R&amp;D — electronics, automotive/IME, medtech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892040" y="320040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Reference-driven entry from beachhead</a:t>
            </a:r>
            <a:endParaRPr lang="en-US" sz="1100" dirty="0"/>
          </a:p>
          <a:p>
            <a:pPr marL="127000" indent="-127000">
              <a:lnSpc>
                <a:spcPts val="14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IP-sensitive iteration stays in-house</a:t>
            </a:r>
            <a:endParaRPr lang="en-US" sz="1100" dirty="0"/>
          </a:p>
          <a:p>
            <a:pPr marL="127000" indent="-127000">
              <a:lnSpc>
                <a:spcPts val="14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 pre-development without tooling cost</a:t>
            </a:r>
            <a:endParaRPr lang="en-US" sz="1100" dirty="0"/>
          </a:p>
          <a:p>
            <a:pPr marL="127000" indent="-127000">
              <a:lnSpc>
                <a:spcPts val="14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~4,800 filtered organizations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21040" y="1783080"/>
            <a:ext cx="3319272" cy="4297680"/>
          </a:xfrm>
          <a:prstGeom prst="roundRect">
            <a:avLst>
              <a:gd name="adj" fmla="val 1515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549640" y="199339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B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· YEAR 3–5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549640" y="2286000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&amp; space labs · education fleets · small series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549640" y="3200400"/>
            <a:ext cx="28620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 AM budget: $0.3B → $0.8B → ~$2.6B (2030e)</a:t>
            </a:r>
            <a:endParaRPr lang="en-US" sz="1100" dirty="0"/>
          </a:p>
          <a:p>
            <a:pPr marL="127000" indent="-127000">
              <a:lnSpc>
                <a:spcPts val="14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Eos Max + traceability via APES/NTV</a:t>
            </a:r>
            <a:endParaRPr lang="en-US" sz="1100" dirty="0"/>
          </a:p>
          <a:p>
            <a:pPr marL="127000" indent="-127000">
              <a:lnSpc>
                <a:spcPts val="14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Eos One curriculum bundles</a:t>
            </a:r>
            <a:endParaRPr lang="en-US" sz="1100" dirty="0"/>
          </a:p>
          <a:p>
            <a:pPr marL="127000" indent="-127000">
              <a:lnSpc>
                <a:spcPts val="14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cells feed Hyperion upsell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to be done — what a €65k five-axis machine gets hired for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83080"/>
            <a:ext cx="5394960" cy="1965960"/>
          </a:xfrm>
          <a:prstGeom prst="roundRect">
            <a:avLst>
              <a:gd name="adj" fmla="val 255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011680"/>
            <a:ext cx="402336" cy="402336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754" y="2100194"/>
            <a:ext cx="225308" cy="2253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2057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first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2560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“Print the 3D antenna / conformal sensor the competing group can't.” Five-axis capability is publication-grade differentiation — the strongest academic buying motive.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45352" y="1783080"/>
            <a:ext cx="5394960" cy="1965960"/>
          </a:xfrm>
          <a:prstGeom prst="roundRect">
            <a:avLst>
              <a:gd name="adj" fmla="val 255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73952" y="2011680"/>
            <a:ext cx="402336" cy="402336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466" y="2100194"/>
            <a:ext cx="225308" cy="2253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22592" y="2057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same-day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473952" y="2560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CAD to functional 3D circuit before the evening — not a 3-week offshore loop.” Substitutes cap value only for flat standard PCBs; 3D iteration has no substitute.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3931920"/>
            <a:ext cx="5394960" cy="1965960"/>
          </a:xfrm>
          <a:prstGeom prst="roundRect">
            <a:avLst>
              <a:gd name="adj" fmla="val 255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77240" y="4160520"/>
            <a:ext cx="402336" cy="402336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54" y="4249034"/>
            <a:ext cx="225308" cy="2253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25880" y="4206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IP in-house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777240" y="4709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“Defense, automotive pre-development and medical prototypes never leave the building.” ITAR/IP-sensitive work structurally cannot use board services.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245352" y="3931920"/>
            <a:ext cx="5394960" cy="1965960"/>
          </a:xfrm>
          <a:prstGeom prst="roundRect">
            <a:avLst>
              <a:gd name="adj" fmla="val 255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73952" y="4160520"/>
            <a:ext cx="402336" cy="402336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466" y="4249034"/>
            <a:ext cx="225308" cy="2253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22592" y="4206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the next cohort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473952" y="4709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“Teach industry-relevant AME on real hardware.” Curriculum seats seed tomorrow's corporate purchases — the LPKF ProtoMat dynamic for 40 years.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Alone in the quadrant that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1783080"/>
            <a:ext cx="6949440" cy="4160520"/>
          </a:xfrm>
          <a:prstGeom prst="rect">
            <a:avLst/>
          </a:prstGeom>
          <a:solidFill>
            <a:srgbClr val="131A24"/>
          </a:solidFill>
          <a:ln w="9525">
            <a:solidFill>
              <a:srgbClr val="2A36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783080"/>
            <a:ext cx="0" cy="4160520"/>
          </a:xfrm>
          <a:prstGeom prst="line">
            <a:avLst/>
          </a:prstGeom>
          <a:noFill/>
          <a:ln w="9525">
            <a:solidFill>
              <a:srgbClr val="2A364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371600" y="3863340"/>
            <a:ext cx="6949440" cy="0"/>
          </a:xfrm>
          <a:prstGeom prst="line">
            <a:avLst/>
          </a:prstGeom>
          <a:noFill/>
          <a:ln w="9525">
            <a:solidFill>
              <a:srgbClr val="2A3648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01168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→  high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" y="5623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71600" y="60167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planar (2–2.5 axis)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60167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conformal / 5-axis →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7635" y="2144268"/>
            <a:ext cx="109728" cy="109728"/>
          </a:xfrm>
          <a:prstGeom prst="ellipse">
            <a:avLst/>
          </a:prstGeom>
          <a:solidFill>
            <a:srgbClr val="D96A6A"/>
          </a:solidFill>
          <a:ln/>
        </p:spPr>
      </p:sp>
      <p:sp>
        <p:nvSpPr>
          <p:cNvPr id="18" name="Text 16"/>
          <p:cNvSpPr/>
          <p:nvPr/>
        </p:nvSpPr>
        <p:spPr>
          <a:xfrm>
            <a:off x="2713939" y="20711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DragonFly IV †exit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01568" y="2643530"/>
            <a:ext cx="109728" cy="109728"/>
          </a:xfrm>
          <a:prstGeom prst="ellipse">
            <a:avLst/>
          </a:prstGeom>
          <a:solidFill>
            <a:srgbClr val="8FA0B5"/>
          </a:solidFill>
          <a:ln/>
        </p:spPr>
      </p:sp>
      <p:sp>
        <p:nvSpPr>
          <p:cNvPr id="20" name="Text 18"/>
          <p:cNvSpPr/>
          <p:nvPr/>
        </p:nvSpPr>
        <p:spPr>
          <a:xfrm>
            <a:off x="3547872" y="257037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XTPL Delta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25389" y="2269084"/>
            <a:ext cx="109728" cy="109728"/>
          </a:xfrm>
          <a:prstGeom prst="ellipse">
            <a:avLst/>
          </a:prstGeom>
          <a:solidFill>
            <a:srgbClr val="8FA0B5"/>
          </a:solidFill>
          <a:ln/>
        </p:spPr>
      </p:sp>
      <p:sp>
        <p:nvSpPr>
          <p:cNvPr id="22" name="Text 20"/>
          <p:cNvSpPr/>
          <p:nvPr/>
        </p:nvSpPr>
        <p:spPr>
          <a:xfrm>
            <a:off x="5771693" y="21959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nScrypt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20333" y="2643530"/>
            <a:ext cx="109728" cy="109728"/>
          </a:xfrm>
          <a:prstGeom prst="ellipse">
            <a:avLst/>
          </a:prstGeom>
          <a:solidFill>
            <a:srgbClr val="8FA0B5"/>
          </a:solidFill>
          <a:ln/>
        </p:spPr>
      </p:sp>
      <p:sp>
        <p:nvSpPr>
          <p:cNvPr id="24" name="Text 22"/>
          <p:cNvSpPr/>
          <p:nvPr/>
        </p:nvSpPr>
        <p:spPr>
          <a:xfrm>
            <a:off x="6466637" y="257037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Optomec AJ 5X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76288" y="3101188"/>
            <a:ext cx="109728" cy="109728"/>
          </a:xfrm>
          <a:prstGeom prst="ellipse">
            <a:avLst/>
          </a:prstGeom>
          <a:solidFill>
            <a:srgbClr val="8FA0B5"/>
          </a:solidFill>
          <a:ln/>
        </p:spPr>
      </p:sp>
      <p:sp>
        <p:nvSpPr>
          <p:cNvPr id="26" name="Text 24"/>
          <p:cNvSpPr/>
          <p:nvPr/>
        </p:nvSpPr>
        <p:spPr>
          <a:xfrm>
            <a:off x="7022592" y="30280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Neotech 15X † → KRONOS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20163" y="4307738"/>
            <a:ext cx="109728" cy="109728"/>
          </a:xfrm>
          <a:prstGeom prst="ellipse">
            <a:avLst/>
          </a:prstGeom>
          <a:solidFill>
            <a:srgbClr val="8FA0B5"/>
          </a:solidFill>
          <a:ln/>
        </p:spPr>
      </p:sp>
      <p:sp>
        <p:nvSpPr>
          <p:cNvPr id="28" name="Text 26"/>
          <p:cNvSpPr/>
          <p:nvPr/>
        </p:nvSpPr>
        <p:spPr>
          <a:xfrm>
            <a:off x="2366467" y="423458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Dimatix DMP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845613" y="4557370"/>
            <a:ext cx="109728" cy="109728"/>
          </a:xfrm>
          <a:prstGeom prst="ellipse">
            <a:avLst/>
          </a:prstGeom>
          <a:solidFill>
            <a:srgbClr val="3FB8C9"/>
          </a:solidFill>
          <a:ln/>
        </p:spPr>
      </p:sp>
      <p:sp>
        <p:nvSpPr>
          <p:cNvPr id="30" name="Text 28"/>
          <p:cNvSpPr/>
          <p:nvPr/>
        </p:nvSpPr>
        <p:spPr>
          <a:xfrm>
            <a:off x="2991917" y="448421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Voltera NOVA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011680" y="5389474"/>
            <a:ext cx="109728" cy="109728"/>
          </a:xfrm>
          <a:prstGeom prst="ellipse">
            <a:avLst/>
          </a:prstGeom>
          <a:solidFill>
            <a:srgbClr val="8FA0B5"/>
          </a:solidFill>
          <a:ln/>
        </p:spPr>
      </p:sp>
      <p:sp>
        <p:nvSpPr>
          <p:cNvPr id="32" name="Text 30"/>
          <p:cNvSpPr/>
          <p:nvPr/>
        </p:nvSpPr>
        <p:spPr>
          <a:xfrm>
            <a:off x="2157984" y="531632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V-One / SV2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01568" y="5056632"/>
            <a:ext cx="109728" cy="109728"/>
          </a:xfrm>
          <a:prstGeom prst="ellipse">
            <a:avLst/>
          </a:prstGeom>
          <a:solidFill>
            <a:srgbClr val="8FA0B5"/>
          </a:solidFill>
          <a:ln/>
        </p:spPr>
      </p:sp>
      <p:sp>
        <p:nvSpPr>
          <p:cNvPr id="34" name="Text 32"/>
          <p:cNvSpPr/>
          <p:nvPr/>
        </p:nvSpPr>
        <p:spPr>
          <a:xfrm>
            <a:off x="3547872" y="49834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LPKF ProtoMat (subtractive)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09437" y="4412894"/>
            <a:ext cx="731520" cy="731520"/>
          </a:xfrm>
          <a:prstGeom prst="ellipse">
            <a:avLst/>
          </a:prstGeom>
          <a:solidFill>
            <a:srgbClr val="26180C">
              <a:alpha val="80000"/>
            </a:srgbClr>
          </a:solidFill>
          <a:ln w="19050">
            <a:solidFill>
              <a:srgbClr val="E087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92901" y="4696358"/>
            <a:ext cx="164592" cy="164592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37" name="Text 35"/>
          <p:cNvSpPr/>
          <p:nvPr/>
        </p:nvSpPr>
        <p:spPr>
          <a:xfrm>
            <a:off x="5460797" y="516270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KRONOS EOS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686800" y="1783080"/>
            <a:ext cx="2953512" cy="4160520"/>
          </a:xfrm>
          <a:prstGeom prst="roundRect">
            <a:avLst>
              <a:gd name="adj" fmla="val 1703"/>
            </a:avLst>
          </a:prstGeom>
          <a:solidFill>
            <a:srgbClr val="131A24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915400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quadrant stays open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915400" y="260604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Incumbents: cost structures &amp; cannibalization fear block down-market moves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Voltera: 12–24 months behind on 5-axis CAM software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entrants (Hummink, Scrona, Quantica, XTPL) all target sub-micron / display / semiconductor niches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threat: a Bambu-style entrant — window ≈ 3–5 years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KRONOS Eos — one platform, three configurations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83080"/>
            <a:ext cx="3730752" cy="4251960"/>
          </a:xfrm>
          <a:prstGeom prst="roundRect">
            <a:avLst>
              <a:gd name="adj" fmla="val 134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 ONE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788920" y="195681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8F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€35k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22960" y="2395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&amp; enter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788920"/>
            <a:ext cx="3182112" cy="0"/>
          </a:xfrm>
          <a:prstGeom prst="line">
            <a:avLst/>
          </a:prstGeom>
          <a:noFill/>
          <a:ln w="9525">
            <a:solidFill>
              <a:srgbClr val="2A36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9260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3+2-axis indexed kinematics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toolhead (micro-dispense) + UV + FFF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±25 µm deposition accuracy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calibration · Aion-5X Lite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HAW, colleges, top fab labs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62272" y="1783080"/>
            <a:ext cx="3730752" cy="4251960"/>
          </a:xfrm>
          <a:prstGeom prst="roundRect">
            <a:avLst>
              <a:gd name="adj" fmla="val 1348"/>
            </a:avLst>
          </a:prstGeom>
          <a:solidFill>
            <a:srgbClr val="1E1A12"/>
          </a:solidFill>
          <a:ln w="9525">
            <a:solidFill>
              <a:srgbClr val="E0873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36592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 FIVE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702552" y="195681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€65k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736592" y="2395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beachhead product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36592" y="2788920"/>
            <a:ext cx="3182112" cy="0"/>
          </a:xfrm>
          <a:prstGeom prst="line">
            <a:avLst/>
          </a:prstGeom>
          <a:noFill/>
          <a:ln w="9525">
            <a:solidFill>
              <a:srgbClr val="2A36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29260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5-AXIS SIMULTANEOUS printing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toolheads: piezo-jet + dispensing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±15 µm · AI vision inspection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Aion-5X Pro · materials starter kit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 groups &amp; corporate R&amp;D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36592" y="5596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55% of projected mix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375904" y="1783080"/>
            <a:ext cx="3730752" cy="4251960"/>
          </a:xfrm>
          <a:prstGeom prst="roundRect">
            <a:avLst>
              <a:gd name="adj" fmla="val 134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50224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 MAX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616184" y="195681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3F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€95k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650224" y="2395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&amp; produce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650224" y="2788920"/>
            <a:ext cx="3182112" cy="0"/>
          </a:xfrm>
          <a:prstGeom prst="line">
            <a:avLst/>
          </a:prstGeom>
          <a:noFill/>
          <a:ln w="9525">
            <a:solidFill>
              <a:srgbClr val="2A36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50224" y="29260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5-axis + toolchanger (up to 4 heads)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SMD placement module · plasma option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 µm · closed-loop QC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package (defense-ready)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path toward Hyperion class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one platform beats three machines — and why the software is the moat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83080"/>
            <a:ext cx="5394960" cy="1965960"/>
          </a:xfrm>
          <a:prstGeom prst="roundRect">
            <a:avLst>
              <a:gd name="adj" fmla="val 255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011680"/>
            <a:ext cx="384048" cy="384048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731" y="2096171"/>
            <a:ext cx="215067" cy="21506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98448" y="20482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chassis, three tiers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77240" y="253288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5-axis base, B&amp;R control, vision stack. One spare-parts pool, one CE/UL certification, field-upgradeable tiers. R&amp;D: €3.2M instead of €6–8M for three separate machines.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45352" y="1783080"/>
            <a:ext cx="5394960" cy="1965960"/>
          </a:xfrm>
          <a:prstGeom prst="roundRect">
            <a:avLst>
              <a:gd name="adj" fmla="val 255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73952" y="2011680"/>
            <a:ext cx="384048" cy="384048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443" y="2096171"/>
            <a:ext cx="215067" cy="21506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95160" y="20482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Aion-5X is the real product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473952" y="253288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5-axis deposition CAM + calibration + AI inspection took ~15 years to build. It already exists, scales at zero marginal cost — and licenses to third parties (APES Matrix6D).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48640" y="3931920"/>
            <a:ext cx="5394960" cy="1965960"/>
          </a:xfrm>
          <a:prstGeom prst="roundRect">
            <a:avLst>
              <a:gd name="adj" fmla="val 255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77240" y="4160520"/>
            <a:ext cx="384048" cy="384048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31" y="4245011"/>
            <a:ext cx="215067" cy="21506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98448" y="419709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materials program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777240" y="468172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silver ink, one dielectric, two polymers — qualified profiles, subscription kits. Cuts support cost, creates the annuity. “Experimental mode” keeps research freedom.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245352" y="3931920"/>
            <a:ext cx="5394960" cy="1965960"/>
          </a:xfrm>
          <a:prstGeom prst="roundRect">
            <a:avLst>
              <a:gd name="adj" fmla="val 255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73952" y="4160520"/>
            <a:ext cx="384048" cy="384048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443" y="4245011"/>
            <a:ext cx="215067" cy="21506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95160" y="419709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Cannibalization fence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6473952" y="468172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volume, throughput, autonomy and material breadth stay with Helios/Hyperion (€200k+). Eos Max is designed as the feeder, not the killer — the Formlabs-Fuse pattern, not MakerBot.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 open the account — the installed base pays the margin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graphicFrame>
        <p:nvGraphicFramePr>
          <p:cNvPr id="10" name="Chart 0" descr=""/>
          <p:cNvGraphicFramePr/>
          <p:nvPr/>
        </p:nvGraphicFramePr>
        <p:xfrm>
          <a:off x="548640" y="1828800"/>
          <a:ext cx="4023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16276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mix 2031 · Base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37760" y="1783080"/>
            <a:ext cx="6702552" cy="2011680"/>
          </a:xfrm>
          <a:prstGeom prst="roundRect">
            <a:avLst>
              <a:gd name="adj" fmla="val 2500"/>
            </a:avLst>
          </a:prstGeom>
          <a:solidFill>
            <a:srgbClr val="131A24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212080" y="197510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installed machine, per year (Base)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212080" y="23774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€5.0k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212080" y="2926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consumables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(curated ink kits)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58000" y="23774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B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€3.6k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858000" y="2926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contract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(11% · 50% attach)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503920" y="23774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€1.1k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503920" y="2926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Aion-5X seat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(60% attach)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0149840" y="23774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≈€10k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0149840" y="29260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per unit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growing with base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937760" y="4023360"/>
            <a:ext cx="6702552" cy="2011680"/>
          </a:xfrm>
          <a:prstGeom prst="roundRect">
            <a:avLst>
              <a:gd name="adj" fmla="val 2500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212080" y="421538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 built for SME budgets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212080" y="4572000"/>
            <a:ext cx="6172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Leasing via partners (Grenke/DLL class), balance-sheet neutral: Eos Five ≈ €1.3–1.5k/month — an OPEX decision. German equipment-leasing share: 26.1% of all equipment investment (BDL 2024).</a:t>
            </a:r>
            <a:endParaRPr lang="en-US" sz="1050" dirty="0"/>
          </a:p>
          <a:p>
            <a:pPr indent="0" marL="0">
              <a:lnSpc>
                <a:spcPts val="145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down-payment standard keeps working capital at 12% of revenue growth. Machine-as-a-Service tier follows the Carbon precedent (~35–45% of sale price per year).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· SAM · SOM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Sized bottom-up from counted organizations — not from analyst headlines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920240"/>
            <a:ext cx="10515600" cy="960120"/>
          </a:xfrm>
          <a:prstGeom prst="roundRect">
            <a:avLst>
              <a:gd name="adj" fmla="val 4762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0391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€1.2B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14600" y="2066544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10-yr equipment + attach potential · ~10,000 organizations worldwide × 1.3 machines × €65k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90672"/>
            <a:ext cx="6949440" cy="960120"/>
          </a:xfrm>
          <a:prstGeom prst="roundRect">
            <a:avLst>
              <a:gd name="adj" fmla="val 4762"/>
            </a:avLst>
          </a:prstGeom>
          <a:solidFill>
            <a:srgbClr val="202E40"/>
          </a:solidFill>
          <a:ln w="9525">
            <a:solidFill>
              <a:srgbClr val="2A36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095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5478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€340M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14600" y="323697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+ North America, reachable segments 2027–2031 · ~4,200 organizations · ≈€35–45M/yr by 2031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261104"/>
            <a:ext cx="4023360" cy="960120"/>
          </a:xfrm>
          <a:prstGeom prst="roundRect">
            <a:avLst>
              <a:gd name="adj" fmla="val 4762"/>
            </a:avLst>
          </a:prstGeom>
          <a:solidFill>
            <a:srgbClr val="1E1A12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3799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7183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€34M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440740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cumulative 5-yr (Base): 452 units + attach ≈ 30% of the matured band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559552"/>
            <a:ext cx="11091672" cy="777240"/>
          </a:xfrm>
          <a:prstGeom prst="roundRect">
            <a:avLst>
              <a:gd name="adj" fmla="val 6471"/>
            </a:avLst>
          </a:prstGeom>
          <a:solidFill>
            <a:srgbClr val="1A1616"/>
          </a:solidFill>
          <a:ln w="9525">
            <a:solidFill>
              <a:srgbClr val="4A303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570585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D9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entire AME machine market is ~€15–28M/yr. Every euro of SAM beyond that assumes the band expands 5–7x by 2031 — the Conservative case assumes zero expansion and is a documented no-go.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5-YEAR FINANCIAL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case: €16M revenue, 50% gross margin, EBITDA break-even 2031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graphicFrame>
        <p:nvGraphicFramePr>
          <p:cNvPr id="10" name="Chart 0" descr=""/>
          <p:cNvGraphicFramePr/>
          <p:nvPr/>
        </p:nvGraphicFramePr>
        <p:xfrm>
          <a:off x="548640" y="1783080"/>
          <a:ext cx="72237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8001000" y="1783080"/>
            <a:ext cx="3639312" cy="4206240"/>
          </a:xfrm>
          <a:prstGeom prst="roundRect">
            <a:avLst>
              <a:gd name="adj" fmla="val 1382"/>
            </a:avLst>
          </a:prstGeom>
          <a:solidFill>
            <a:srgbClr val="131A24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0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 anchors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→ 200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229600" y="27249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units/yr, 2027 → 2031 (cum. 452)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→ 50%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229600" y="36393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as COGS falls 58% → 48%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29600" y="4206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€13.2M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229600" y="45537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funding need (peak cash + 15% buffer)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22960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XTPL check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229600" y="54681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needed €15–18M for 13 units/yr — Eos starts with finished core tech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 &amp; RETURNS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futures, honestly priced — including the one where you lose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37360"/>
            <a:ext cx="3730752" cy="4343400"/>
          </a:xfrm>
          <a:prstGeom prst="roundRect">
            <a:avLst>
              <a:gd name="adj" fmla="val 1348"/>
            </a:avLst>
          </a:prstGeom>
          <a:solidFill>
            <a:srgbClr val="1A1616"/>
          </a:solidFill>
          <a:ln w="9525">
            <a:solidFill>
              <a:srgbClr val="4A303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" y="19385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9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band expansion — today's demand only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2788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cum. 2031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60320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" y="3072384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191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2031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60320" y="31912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€4.9M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" y="3474720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593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2031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0" y="3593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−€0.9M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" y="3877056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995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60320" y="3995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" y="4279392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398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 / IRR (yr 7)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560320" y="43982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0.3x / −18%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4672" y="4681728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49377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i="1" dirty="0">
                <a:solidFill>
                  <a:srgbClr val="D9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INVESTABLE — this is the documented no-go scenario the gates protect against.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62272" y="1737360"/>
            <a:ext cx="3730752" cy="4343400"/>
          </a:xfrm>
          <a:prstGeom prst="roundRect">
            <a:avLst>
              <a:gd name="adj" fmla="val 134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18304" y="19385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18304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expands 5–7x — Formlabs-calibrated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18304" y="2788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cum. 2031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73952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452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18304" y="3072384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18304" y="3191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2031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73952" y="31912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€16.0M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18304" y="3474720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3593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2031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73952" y="3593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+€1.1M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18304" y="3877056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18304" y="3995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73952" y="3995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2031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18304" y="4279392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4398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 / IRR (yr 7)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73952" y="43982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2.25x / +14%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18304" y="4681728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49377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LPKF-class business — below venture threshold on its own.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375904" y="1737360"/>
            <a:ext cx="3730752" cy="4343400"/>
          </a:xfrm>
          <a:prstGeom prst="roundRect">
            <a:avLst>
              <a:gd name="adj" fmla="val 1348"/>
            </a:avLst>
          </a:prstGeom>
          <a:solidFill>
            <a:srgbClr val="14201A"/>
          </a:solidFill>
          <a:ln w="9525">
            <a:solidFill>
              <a:srgbClr val="2E4A3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631936" y="19385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5BB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631936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creation: defense, IME, attach economy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631936" y="2788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cum. 2031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0387584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743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631936" y="3072384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31936" y="3191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2031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0387584" y="31912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€29.1M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631936" y="3474720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31936" y="3593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2031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0387584" y="3593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+€6.8M (23%)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631936" y="3877056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31936" y="3995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10387584" y="3995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8631936" y="4279392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31936" y="4398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 / IRR (yr 7)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10387584" y="43982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11.4x / +48%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631936" y="4681728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31936" y="49377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i="1" dirty="0">
                <a:solidFill>
                  <a:srgbClr val="5BB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Venture-grade. ~25–30% probability carries the deal's expected value (≈3x blended).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Community-led, direct-first — a sales army comes later, if ever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83080"/>
            <a:ext cx="3730752" cy="4251960"/>
          </a:xfrm>
          <a:prstGeom prst="roundRect">
            <a:avLst>
              <a:gd name="adj" fmla="val 134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" y="1993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A · 2027–28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228600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beachhead (EU/NA)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" y="301752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LOPEC · productronica · Formnext presence — award momentum</a:t>
            </a:r>
            <a:endParaRPr lang="en-US" sz="1050" dirty="0"/>
          </a:p>
          <a:p>
            <a:pPr marL="127000" indent="-1270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Paper-reference program: discount for citability</a:t>
            </a:r>
            <a:endParaRPr lang="en-US" sz="1050" dirty="0"/>
          </a:p>
          <a:p>
            <a:pPr marL="127000" indent="-1270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tours via FAPS / Fraunhofer network</a:t>
            </a:r>
            <a:endParaRPr lang="en-US" sz="1050" dirty="0"/>
          </a:p>
          <a:p>
            <a:pPr marL="127000" indent="-1270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sales + 2 application engineers · CAC ≈ €9k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62272" y="1783080"/>
            <a:ext cx="3730752" cy="4251960"/>
          </a:xfrm>
          <a:prstGeom prst="roundRect">
            <a:avLst>
              <a:gd name="adj" fmla="val 134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18304" y="1993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F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B · 2028–29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18304" y="228600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R&amp;D expansion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18304" y="301752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Reference-driven entry: ZVEI / CLEPA / SPECTARIS segments</a:t>
            </a:r>
            <a:endParaRPr lang="en-US" sz="1050" dirty="0"/>
          </a:p>
          <a:p>
            <a:pPr marL="127000" indent="-1270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activation: APES &amp; NTV (NA), ex-Neotech partners (JP/AU)</a:t>
            </a:r>
            <a:endParaRPr lang="en-US" sz="1050" dirty="0"/>
          </a:p>
          <a:p>
            <a:pPr marL="127000" indent="-1270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volume through distributors at 30% discount</a:t>
            </a:r>
            <a:endParaRPr lang="en-US" sz="1050" dirty="0"/>
          </a:p>
          <a:p>
            <a:pPr marL="127000" indent="-1270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electronica · SMTconnect · IME consortia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75904" y="1783080"/>
            <a:ext cx="3730752" cy="4251960"/>
          </a:xfrm>
          <a:prstGeom prst="roundRect">
            <a:avLst>
              <a:gd name="adj" fmla="val 134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31936" y="1993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B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C · 2029–31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31936" y="228600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· education · small series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31936" y="301752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Eos Max + traceability into SBIR / NextFlex ecosystem</a:t>
            </a:r>
            <a:endParaRPr lang="en-US" sz="1050" dirty="0"/>
          </a:p>
          <a:p>
            <a:pPr marL="127000" indent="-1270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Eos One curriculum bundles for HAW &amp; colleges</a:t>
            </a:r>
            <a:endParaRPr lang="en-US" sz="1050" dirty="0"/>
          </a:p>
          <a:p>
            <a:pPr marL="127000" indent="-1270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production-cell clusters — Hyperion feeder</a:t>
            </a:r>
            <a:endParaRPr lang="en-US" sz="1050" dirty="0"/>
          </a:p>
          <a:p>
            <a:pPr marL="127000" indent="-1270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entry via reactivated distributor network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gates, hard kill criteria — €2.5M buys the truth before the factory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2331720"/>
            <a:ext cx="10424160" cy="0"/>
          </a:xfrm>
          <a:prstGeom prst="line">
            <a:avLst/>
          </a:prstGeom>
          <a:noFill/>
          <a:ln w="12700">
            <a:solidFill>
              <a:srgbClr val="2A36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25296" y="2203704"/>
            <a:ext cx="256032" cy="256032"/>
          </a:xfrm>
          <a:prstGeom prst="ellipse">
            <a:avLst/>
          </a:prstGeom>
          <a:solidFill>
            <a:srgbClr val="E0873A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22128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1828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M1–3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2889504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interviews · ≥30% budget-backed intent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35808" y="2203704"/>
            <a:ext cx="256032" cy="256032"/>
          </a:xfrm>
          <a:prstGeom prst="ellipse">
            <a:avLst/>
          </a:prstGeom>
          <a:solidFill>
            <a:srgbClr val="E0873A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35808" y="22128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68880" y="1828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M3–6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77440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test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2889504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≥10 LOIs (3 with deposit intent) · price test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46320" y="2203704"/>
            <a:ext cx="256032" cy="256032"/>
          </a:xfrm>
          <a:prstGeom prst="ellipse">
            <a:avLst/>
          </a:prstGeom>
          <a:solidFill>
            <a:srgbClr val="E0873A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2128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79392" y="1828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M4–9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87952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IP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87952" y="2889504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≤€26k · patent chain-of-title cleared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56832" y="2203704"/>
            <a:ext cx="256032" cy="256032"/>
          </a:xfrm>
          <a:prstGeom prst="ellipse">
            <a:avLst/>
          </a:prstGeom>
          <a:solidFill>
            <a:srgbClr val="131A24"/>
          </a:solidFill>
          <a:ln w="12700">
            <a:solidFill>
              <a:srgbClr val="5A6A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22128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F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9904" y="1828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M9–15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98464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partners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98464" y="2889504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paid pilots · ≥4 accept · service &lt;10%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467344" y="2203704"/>
            <a:ext cx="256032" cy="256032"/>
          </a:xfrm>
          <a:prstGeom prst="ellipse">
            <a:avLst/>
          </a:prstGeom>
          <a:solidFill>
            <a:srgbClr val="131A24"/>
          </a:solidFill>
          <a:ln w="12700">
            <a:solidFill>
              <a:srgbClr val="5A6A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67344" y="22128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F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900416" y="1828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M15–22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808976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fleet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08976" y="2889504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machines · ≥30 pre-orders · failures &lt;5%/q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277856" y="2203704"/>
            <a:ext cx="256032" cy="256032"/>
          </a:xfrm>
          <a:prstGeom prst="ellipse">
            <a:avLst/>
          </a:prstGeom>
          <a:solidFill>
            <a:srgbClr val="131A24"/>
          </a:solidFill>
          <a:ln w="12700">
            <a:solidFill>
              <a:srgbClr val="5A6A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77856" y="22128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F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710928" y="1828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M22–27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619488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release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619488" y="2889504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 on plan · delivery &gt;90%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8640" y="3977640"/>
            <a:ext cx="3730752" cy="2057400"/>
          </a:xfrm>
          <a:prstGeom prst="roundRect">
            <a:avLst>
              <a:gd name="adj" fmla="val 2444"/>
            </a:avLst>
          </a:prstGeom>
          <a:solidFill>
            <a:srgbClr val="1E1A12"/>
          </a:solidFill>
          <a:ln w="9525">
            <a:solidFill>
              <a:srgbClr val="E0873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04672" y="417880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TRANCHE 1 — €2.5M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04672" y="45262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· funds G0–G4 through pilot fleet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04672" y="4910328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4672" y="502005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commitment requested today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462272" y="3977640"/>
            <a:ext cx="3730752" cy="2057400"/>
          </a:xfrm>
          <a:prstGeom prst="roundRect">
            <a:avLst>
              <a:gd name="adj" fmla="val 2444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18304" y="417880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TRANCHE 2 — €4.5M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718304" y="45262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 · industrialization &amp; launch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18304" y="4910328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18304" y="502005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Unlocked by: ≥10 LOIs · BOM ≤€26k · IP cleared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375904" y="3977640"/>
            <a:ext cx="3730752" cy="2057400"/>
          </a:xfrm>
          <a:prstGeom prst="roundRect">
            <a:avLst>
              <a:gd name="adj" fmla="val 2444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8631936" y="417880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TRANCHE 3 — €4–5M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631936" y="45262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2029 · scale &amp; channel build-out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631936" y="4910328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31936" y="502005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Unlocked by: ≥60 units sold · GM ≥42% · service &lt;8%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 — DECISION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Substance over optimism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E087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E087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E087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37360"/>
            <a:ext cx="6675120" cy="4343400"/>
          </a:xfrm>
          <a:prstGeom prst="roundRect">
            <a:avLst>
              <a:gd name="adj" fmla="val 1158"/>
            </a:avLst>
          </a:prstGeom>
          <a:solidFill>
            <a:srgbClr val="1E1A12"/>
          </a:solidFill>
          <a:ln w="9525">
            <a:solidFill>
              <a:srgbClr val="E0873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193852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4028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€2.5M, the investor buys the option on the only unclaimed Formlabs position in 3D-printed electronics — proven 5-axis technology, a vacant price band, a cleared field, and procurement rules that just tilted in its favor.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329184" cy="329184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80" y="3501420"/>
            <a:ext cx="184343" cy="18434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80160" y="3383280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— conditionally  — 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T1 after three pre-closing checks: IP chain-of-title, software-team retention, insolvency legacy clean.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4325112"/>
            <a:ext cx="329184" cy="329184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80" y="4397532"/>
            <a:ext cx="184343" cy="18434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80160" y="4279392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at the gates if  — 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 LOIs in 6 months · BOM &gt;€32k · NOVA proxy &lt;30 units/yr · service cost &gt;12% in pilots.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22960" y="5221224"/>
            <a:ext cx="329184" cy="329184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80" y="5293644"/>
            <a:ext cx="184343" cy="18434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80160" y="5175504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invest at all if  — 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require a certain venture return: only the Upside path (~25–30% probability) is venture-grade. This is an option, not a promise.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498080" y="1737360"/>
            <a:ext cx="4142232" cy="4343400"/>
          </a:xfrm>
          <a:prstGeom prst="roundRect">
            <a:avLst>
              <a:gd name="adj" fmla="val 1214"/>
            </a:avLst>
          </a:prstGeom>
          <a:solidFill>
            <a:srgbClr val="131A24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772400" y="1938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SKEPTIC SAYS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77240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8229600" y="230428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predecessor failed or stayed small — maybe the gap is absent demand, not market failure.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777240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8229600" y="3145536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verified KRONOS sales since relaunch — execution by a ~6-person team is unproven.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777240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4"/>
          <p:cNvSpPr/>
          <p:nvPr/>
        </p:nvSpPr>
        <p:spPr>
          <a:xfrm>
            <a:off x="8229600" y="3986784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beachheads are grant-cyclical and don't reorder — the corporate/defense jump must actively succeed.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7772400" y="4809744"/>
            <a:ext cx="3611880" cy="0"/>
          </a:xfrm>
          <a:prstGeom prst="line">
            <a:avLst/>
          </a:prstGeom>
          <a:noFill/>
          <a:ln w="9525">
            <a:solidFill>
              <a:srgbClr val="2A364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772400" y="4919472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i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dismissed — they are the gates. If they hold, the loss is €2.5M and a clean stop. If they fall, the position is category-defining.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2026-08-15T08:02:52Z</dcterms:created>
  <dcterms:modified xsi:type="dcterms:W3CDTF">2026-08-15T08:02:52Z</dcterms:modified>
</cp:coreProperties>
</file>