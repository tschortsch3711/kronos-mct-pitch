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Organisationen</c:v>
                </c:pt>
              </c:strCache>
            </c:strRef>
          </c:tx>
          <c:spPr>
            <a:solidFill>
              <a:srgbClr val="E08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AF0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Universitäre Forschungslabore (EE/Material)</c:v>
                  </c:pt>
                  <c:pt idx="1">
                    <c:v>Corporate R&amp;D — Medtech-KMU</c:v>
                  </c:pt>
                  <c:pt idx="2">
                    <c:v>Corporate R&amp;D — Elektronik-OEMs</c:v>
                  </c:pt>
                  <c:pt idx="3">
                    <c:v>Ausbildung — HAW / Colleges</c:v>
                  </c:pt>
                  <c:pt idx="4">
                    <c:v>Automobilzulieferer (IME, Sensorik)</c:v>
                  </c:pt>
                  <c:pt idx="5">
                    <c:v>Aerospace- &amp; Defense-R&amp;D</c:v>
                  </c:pt>
                  <c:pt idx="6">
                    <c:v>Forschungsinstitute / RTOs</c:v>
                  </c:pt>
                  <c:pt idx="7">
                    <c:v>EMS- &amp; PCB-Dienstleister</c:v>
                  </c:pt>
                  <c:pt idx="8">
                    <c:v>FabLabs (institutionell) + Start-ups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1450</c:v>
                </c:pt>
                <c:pt idx="1">
                  <c:v>1900</c:v>
                </c:pt>
                <c:pt idx="2">
                  <c:v>1800</c:v>
                </c:pt>
                <c:pt idx="3">
                  <c:v>1350</c:v>
                </c:pt>
                <c:pt idx="4">
                  <c:v>1100</c:v>
                </c:pt>
                <c:pt idx="5">
                  <c:v>900</c:v>
                </c:pt>
                <c:pt idx="6">
                  <c:v>700</c:v>
                </c:pt>
                <c:pt idx="7">
                  <c:v>700</c:v>
                </c:pt>
                <c:pt idx="8">
                  <c:v>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AF0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0B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  <c:min val="0"/>
        </c:scaling>
        <c:delete val="0"/>
        <c:axPos val="b"/>
        <c:majorGridlines>
          <c:spPr>
            <a:ln w="6350" cap="flat">
              <a:solidFill>
                <a:srgbClr val="1C26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Umsatzmix 2031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873A"/>
              </a:solidFill>
              <a:ln w="1905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FB8C9"/>
              </a:solidFill>
              <a:ln w="1905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A5A9E"/>
              </a:solidFill>
              <a:ln w="1905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5BBD8B"/>
              </a:solidFill>
              <a:ln w="1905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C9A227"/>
              </a:solidFill>
              <a:ln w="19050" cap="flat">
                <a:solidFill>
                  <a:srgbClr val="0B0F1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Maschinen 74 %</c:v>
                </c:pt>
                <c:pt idx="1">
                  <c:v>Verbrauchsmaterial 11 %</c:v>
                </c:pt>
                <c:pt idx="2">
                  <c:v>Services/NRE 7 %</c:v>
                </c:pt>
                <c:pt idx="3">
                  <c:v>Wartung 5 %</c:v>
                </c:pt>
                <c:pt idx="4">
                  <c:v>Software 3 %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74</c:v>
                </c:pt>
                <c:pt idx="1">
                  <c:v>11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firstSliceAng val="0"/>
        <c:holeSize val="62"/>
      </c:doughnutChart>
      <c:spPr>
        <a:solidFill>
          <a:srgbClr val="0B0F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8FA0B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Maschinen</c:v>
                </c:pt>
              </c:strCache>
            </c:strRef>
          </c:tx>
          <c:spPr>
            <a:solidFill>
              <a:srgbClr val="E087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1.94</c:v>
                </c:pt>
                <c:pt idx="2">
                  <c:v>4.3</c:v>
                </c:pt>
                <c:pt idx="3">
                  <c:v>7.58</c:v>
                </c:pt>
                <c:pt idx="4">
                  <c:v>11.75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Wiederkehrend (Mat.+Svc+SW)</c:v>
                </c:pt>
              </c:strCache>
            </c:strRef>
          </c:tx>
          <c:spPr>
            <a:solidFill>
              <a:srgbClr val="3FB8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0.04</c:v>
                </c:pt>
                <c:pt idx="1">
                  <c:v>0.22</c:v>
                </c:pt>
                <c:pt idx="2">
                  <c:v>0.67</c:v>
                </c:pt>
                <c:pt idx="3">
                  <c:v>1.56</c:v>
                </c:pt>
                <c:pt idx="4">
                  <c:v>3.02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Applikationsprojekte</c:v>
                </c:pt>
              </c:strCache>
            </c:strRef>
          </c:tx>
          <c:spPr>
            <a:solidFill>
              <a:srgbClr val="8A5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</c:v>
                </c:pt>
                <c:pt idx="1">
                  <c:v>0.5</c:v>
                </c:pt>
                <c:pt idx="2">
                  <c:v>0.8</c:v>
                </c:pt>
                <c:pt idx="3">
                  <c:v>1</c:v>
                </c:pt>
                <c:pt idx="4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10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5BBD8B"/>
            </a:solidFill>
            <a:ln w="31750" cap="flat">
              <a:solidFill>
                <a:srgbClr val="5BBD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BBD8B"/>
              </a:solidFill>
              <a:ln w="9525" cap="flat">
                <a:solidFill>
                  <a:srgbClr val="5BBD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-2.02</c:v>
                </c:pt>
                <c:pt idx="1">
                  <c:v>-1.94</c:v>
                </c:pt>
                <c:pt idx="2">
                  <c:v>-1.82</c:v>
                </c:pt>
                <c:pt idx="3">
                  <c:v>-0.84</c:v>
                </c:pt>
                <c:pt idx="4">
                  <c:v>1.05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0B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-3"/>
        </c:scaling>
        <c:delete val="0"/>
        <c:axPos val="l"/>
        <c:majorGridlines>
          <c:spPr>
            <a:ln w="6350" cap="flat">
              <a:solidFill>
                <a:srgbClr val="1C263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FA0B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Vision: KRONOS Eos verlagert bewiesene 5-Achs-AME-Technologie in das leere 25-100k-Preisband. Alle Zahlen: financial-model.xlsx, Evidenzstufen research/assumptions.md.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Struktur: T1 2,5M validiert; T2 4,5M industrialisiert; T3 4-5M skaliert. Konservativ-Szenario = No-Go (Slide 17). Erwartungswert ~3x MOIC bei 30/45/25-Gewichtung.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Quellen: Handelsregister HRB 43784, VoxelMatters/APES-PR, GitHub-Verifikation (Helios 1.0/1.1, Aion-5X SDK, Team). Details: research/company-analysis.md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Bottom-up-Herleitung der Einheiten: research/appendix/dossier-verification-2.md. Nano-Exit: 3DPrint.com 04/2026. Neotech: IN 771/24.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Schwellen: DFG (200k Uni/100k HAW), EU 221k subzentral, Vergaberechtsreform 2025 Direktauftrag 100k, NSF MRI min 100k$. Quellen: research/sources.md §5.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Preisevidenz: Aniwaa, Voltera Store, East Value Research, Design World, Tender-Records. Vollständige Landkarte: research/competitors.md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vier Datenpunkte Stufe A (live verifiziert): Voltera About, LPKF FY2024-Presse, Formlabs Form-4-PR, XTPL IR 01/2026.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Populationstabelle: research/assumptions.md §5, Segmentdetails research/customer-segments.md §1. Relevanzfilter je Segment dokumentiert.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Opportunity-Matrix mit 10 Segmenten und Scoring: research/customer-segments.md §2-3. Long-term: EMS-Kleinserie, IME-Serienökosystem, APAC.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JTBD aus Segment-Analyse (research/customer-segments.md §3). Anwendungen: gedruckte Antennen, konforme Sensorik, Heizstrukturen, IME-Vorstufen, Mikrofluidik-Elektronik.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Vollprofile aller Anbieter inkl. Preisevidenz: research/competitors.md. † = ausgeschieden (Insolvenz/Exit).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Vollspezifikation inkl. bewusst entfernter Features und Ziel-BOM: business-plan/business-plan.md §2.2. Preise = Arbeitshypothese (D), Van-Westendorp in Gate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SDK bereits öffentlich (GitHub verifiziert) — Ökosystem-Ansatz ersetzt das liquidierte J.A.M.E.S. Fencing-Metriken: Upsell-Quote Eos→Hyperion wird gemessen.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Wiederkehrender Umsatz 2031 Base: 3,0 M€ = 19% und steigend. Details: business-plan.md §3, Modell-Sheet 'Base'.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Rechenweg: research/assumptions.md §5, market-analysis.md §7. Band-Expansion kalibriert an Formlabs-Elastizität (konservatives Ende) + Beschaffungsreform + Defense-Pull.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Zahlen aus financial-model.xlsx (formelvalidiert): Umsatz 0,96/2,66/5,78/10,1/16,0 M€; EBITDA -2,0/-1,9/-1,8/-0,8/+1,05 M€. Sensitivität: Stückzahlen und COGS dominieren.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Exit-Multiples: 1,0x/2,0x/3,0x Umsatz (Niche-HW-Comps; Markforged 1,2x). Returns-Sheet im XLSX. Tranchen kappen Downside auf 2,5 M€ bis Gate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GTM-Details: business-plan.md §4. Kanalökonomie: 25% Kanal ab 2028 mit 30% Rabatt; CAC-Annahme messe-zentriert.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Stage-Gate-Plan mit STOP-Szenarien: business-plan.md §9. Fördermittel 0,8-3,3 M€ (ZIM sicher, EIC als Hebel) + WC-Linie ~2 M€ ergänzen die Tranchen zur 13,2-M€-Deckung.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Vollständige No-Go-Bedingungen und die 10 Investorenfragen: business-plan/investment-thesis.md. Erwartungswert ~3x MOIC (30/45/25-Gewichtung, Exit J7).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9828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0996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12880" y="0"/>
            <a:ext cx="0" cy="6858000"/>
          </a:xfrm>
          <a:prstGeom prst="line">
            <a:avLst/>
          </a:prstGeom>
          <a:noFill/>
          <a:ln w="9525">
            <a:solidFill>
              <a:srgbClr val="1016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20240"/>
            <a:ext cx="1828800" cy="0"/>
          </a:xfrm>
          <a:prstGeom prst="line">
            <a:avLst/>
          </a:prstGeom>
          <a:noFill/>
          <a:ln w="15875">
            <a:solidFill>
              <a:srgbClr val="E087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63724" y="1888236"/>
            <a:ext cx="68580" cy="68580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600" kern="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KRONOS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18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Aufbruch zu zugänglicher 3D-gedruckter Elektronik.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Case für eine 5-Achs-AME-Plattform im Band 25–100 k€ —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gebaut auf der Technologie des Kategorie-Pioniers.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DUE-DILIGENCE-PAKET   ·   AUGUST 2026   ·   VERTRAULICH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INVESTMENT-CHANCE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optionsstrukturierte Wette auf die leere Mitte der 3D-Elektronik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122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Angebot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 M€ Tranche 1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eines gestuften 13,2-M€-Plans — committet nur Gate für Gate.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971800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80" y="3044220"/>
            <a:ext cx="184343" cy="18434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291693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Bewiesene 5-Achs-Kerntechnologie — zu Distressed-Kosten aus der Neotech-Insolvenz erworben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3739896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80" y="3812316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80160" y="368503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Einziger Anbieter, der echtes 5-Achs-AME unter alle Vergabeschwellen bringen kann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22960" y="4507992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80" y="4580412"/>
            <a:ext cx="184343" cy="1843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445312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Kategorie-Führung vakant: Nano Dimension stieg im April 2026 aus AME aus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22960" y="5276088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80" y="5348508"/>
            <a:ext cx="184343" cy="18434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522122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Ehrliches Framing: Der heutige Maschinenmarkt ist klein — eine Marktschaffungs-Wette mit gekapptem Downside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122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49224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die gestuften 13,2 M€ aufbauen können (Base Case)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492240" y="2377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€16.0M</a:t>
            </a:r>
            <a:endParaRPr lang="en-US" sz="3400" dirty="0"/>
          </a:p>
        </p:txBody>
      </p:sp>
      <p:sp>
        <p:nvSpPr>
          <p:cNvPr id="28" name="Text 22"/>
          <p:cNvSpPr/>
          <p:nvPr/>
        </p:nvSpPr>
        <p:spPr>
          <a:xfrm>
            <a:off x="649224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Umsatz 2031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 Case)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006840" y="2377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452</a:t>
            </a:r>
            <a:endParaRPr lang="en-US" sz="3400" dirty="0"/>
          </a:p>
        </p:txBody>
      </p:sp>
      <p:sp>
        <p:nvSpPr>
          <p:cNvPr id="30" name="Text 24"/>
          <p:cNvSpPr/>
          <p:nvPr/>
        </p:nvSpPr>
        <p:spPr>
          <a:xfrm>
            <a:off x="9006840" y="2926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installierte Maschinen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2031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6492240" y="3657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400" dirty="0"/>
          </a:p>
        </p:txBody>
      </p:sp>
      <p:sp>
        <p:nvSpPr>
          <p:cNvPr id="32" name="Text 26"/>
          <p:cNvSpPr/>
          <p:nvPr/>
        </p:nvSpPr>
        <p:spPr>
          <a:xfrm>
            <a:off x="649224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Bruttomarge 2031,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19 % wiederkehrend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9006840" y="3657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3400" dirty="0"/>
          </a:p>
        </p:txBody>
      </p:sp>
      <p:sp>
        <p:nvSpPr>
          <p:cNvPr id="34" name="Text 28"/>
          <p:cNvSpPr/>
          <p:nvPr/>
        </p:nvSpPr>
        <p:spPr>
          <a:xfrm>
            <a:off x="9006840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EBITDA-Break-even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(Upside: 2030)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6492240" y="4937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11.4x</a:t>
            </a:r>
            <a:endParaRPr lang="en-US" sz="3400" dirty="0"/>
          </a:p>
        </p:txBody>
      </p:sp>
      <p:sp>
        <p:nvSpPr>
          <p:cNvPr id="36" name="Text 30"/>
          <p:cNvSpPr/>
          <p:nvPr/>
        </p:nvSpPr>
        <p:spPr>
          <a:xfrm>
            <a:off x="6492240" y="5486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 im Upside-Pfad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(IRR ≈ 48 %, Exit J7)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9006840" y="49377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€2.5M</a:t>
            </a:r>
            <a:endParaRPr lang="en-US" sz="3400" dirty="0"/>
          </a:p>
        </p:txBody>
      </p:sp>
      <p:sp>
        <p:nvSpPr>
          <p:cNvPr id="38" name="Text 32"/>
          <p:cNvSpPr/>
          <p:nvPr/>
        </p:nvSpPr>
        <p:spPr>
          <a:xfrm>
            <a:off x="9006840" y="5486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im Risiko vor dem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Serien-Gate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KRONOS HEUTE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Technologie des Pioniers, wiedergeboren als Start-up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377440"/>
            <a:ext cx="10698480" cy="0"/>
          </a:xfrm>
          <a:prstGeom prst="line">
            <a:avLst/>
          </a:prstGeom>
          <a:noFill/>
          <a:ln w="12700">
            <a:solidFill>
              <a:srgbClr val="2A36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" y="2336292"/>
            <a:ext cx="82296" cy="82296"/>
          </a:xfrm>
          <a:prstGeom prst="ellipse">
            <a:avLst/>
          </a:prstGeom>
          <a:solidFill>
            <a:srgbClr val="5A6A8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2009–10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Neotech AMT entwickelt 3D-gedruckte Elektronik; weltweit erstes 5-Achs-3D-PE-System installiert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48356" y="2336292"/>
            <a:ext cx="82296" cy="82296"/>
          </a:xfrm>
          <a:prstGeom prst="ellipse">
            <a:avLst/>
          </a:prstGeom>
          <a:solidFill>
            <a:srgbClr val="5A6A80"/>
          </a:solidFill>
          <a:ln/>
        </p:spPr>
      </p:sp>
      <p:sp>
        <p:nvSpPr>
          <p:cNvPr id="15" name="Text 13"/>
          <p:cNvSpPr/>
          <p:nvPr/>
        </p:nvSpPr>
        <p:spPr>
          <a:xfrm>
            <a:off x="2889504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9504" y="2560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Serieninstallation — gedruckte 3D-Antennen, Millionen Teile pro Jahr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06340" y="2336292"/>
            <a:ext cx="82296" cy="82296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18" name="Text 16"/>
          <p:cNvSpPr/>
          <p:nvPr/>
        </p:nvSpPr>
        <p:spPr>
          <a:xfrm>
            <a:off x="5047488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47488" y="2560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Neotech-Insolvenz (AG Nürnberg). KRONOS Mechatronics übernimmt die Assets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64324" y="2336292"/>
            <a:ext cx="82296" cy="82296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21" name="Text 19"/>
          <p:cNvSpPr/>
          <p:nvPr/>
        </p:nvSpPr>
        <p:spPr>
          <a:xfrm>
            <a:off x="7205472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05472" y="2560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Relaunch Helios &amp; Hyperion · APES-Partnerschaft (Nordamerika) · productronica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322308" y="2336292"/>
            <a:ext cx="82296" cy="82296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63456" y="256032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LOPEC Start-up Award „Best Business Potential“ · Aion-5X-SDK veröffentlicht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2706624" cy="2148840"/>
          </a:xfrm>
          <a:prstGeom prst="roundRect">
            <a:avLst>
              <a:gd name="adj" fmla="val 2340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178808"/>
            <a:ext cx="365760" cy="365760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" y="4259275"/>
            <a:ext cx="204826" cy="20482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23444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749808" y="4690872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Modulare 5-Achs-Plattformen, ±5 µm; Piezo-Jet, Inkjet, Dispensing, FFF; Plasma, UV, Fräsen, SMD-Bestückung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392424" y="3977640"/>
            <a:ext cx="2706624" cy="2148840"/>
          </a:xfrm>
          <a:prstGeom prst="roundRect">
            <a:avLst>
              <a:gd name="adj" fmla="val 2340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593592" y="4178808"/>
            <a:ext cx="365760" cy="365760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059" y="4259275"/>
            <a:ext cx="204826" cy="20482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078224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Software-Burggraben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3593592" y="4690872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Aion-5X CAD/CAM: 5-Achs-Simultanbahnen, Kollisionssimulation, KI-Vision-QC — mit öffentlichem SDK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6236208" y="3977640"/>
            <a:ext cx="2706624" cy="2148840"/>
          </a:xfrm>
          <a:prstGeom prst="roundRect">
            <a:avLst>
              <a:gd name="adj" fmla="val 2340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437376" y="4178808"/>
            <a:ext cx="365760" cy="365760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43" y="4259275"/>
            <a:ext cx="204826" cy="204826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922008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Kanäle &amp; Sichtbarkeit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6437376" y="4690872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APES + NTV (USA), Nürnberger AME-Cluster (FAPS/FAU), OE-A-/LOPEC-Community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9079992" y="3977640"/>
            <a:ext cx="2706624" cy="2148840"/>
          </a:xfrm>
          <a:prstGeom prst="roundRect">
            <a:avLst>
              <a:gd name="adj" fmla="val 2340"/>
            </a:avLst>
          </a:prstGeom>
          <a:solidFill>
            <a:srgbClr val="241C1C"/>
          </a:solidFill>
          <a:ln w="9525">
            <a:solidFill>
              <a:srgbClr val="4A30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9281160" y="4178808"/>
            <a:ext cx="365760" cy="365760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627" y="4259275"/>
            <a:ext cx="204826" cy="204826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765792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ehrliche Lücke</a:t>
            </a:r>
            <a:endParaRPr lang="en-US" sz="1150" dirty="0"/>
          </a:p>
        </p:txBody>
      </p:sp>
      <p:sp>
        <p:nvSpPr>
          <p:cNvPr id="45" name="Text 39"/>
          <p:cNvSpPr/>
          <p:nvPr/>
        </p:nvSpPr>
        <p:spPr>
          <a:xfrm>
            <a:off x="9281160" y="4690872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~6-Personen-Team, kein verifizierter Verkauf seit Relaunch, Patent-Titel ungeprüft → Gates V1–V7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Brillante Technologie, gefangen im 200-k€-Projektgeschäft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~100–190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verkaufte AME-Maschinen pro Jahr, weltweit, alle Anbieter (Bottom-up)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0" y="17373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€15–28M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11480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gesamter AME-Maschinenmarkt heute — kleiner als ein einzelner Mittelständler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173736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50–80%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589520" y="2286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Platzierungen sind förderfinanzierte Forschungskäufe — einmalig, ohne Wiederkauf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091672" cy="3017520"/>
          </a:xfrm>
          <a:prstGeom prst="roundRect">
            <a:avLst>
              <a:gd name="adj" fmla="val 1667"/>
            </a:avLst>
          </a:prstGeom>
          <a:solidFill>
            <a:srgbClr val="1A1616"/>
          </a:solidFill>
          <a:ln w="9525">
            <a:solidFill>
              <a:srgbClr val="4A30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4015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2024–2026: Die Kategorie hat sich selbst bereinigt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Neotech AMT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5-Achs-Pionier — insolvent Juli 2024 nach ~20 Jahren und ~50 Systemen. Seine Assets wurden KRONOS.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Dimension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42062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 Mrd. $ eingesammelt. ~51 DragonFly-Systeme verkauft. AME-Exit April 2026 für 2 M$ upfront — der Marktführer ging zum Schrottwert.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3816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J.A.M.E.S GmbH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38160" y="42062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Hensoldt-getragene AME-Community-Plattform — liquidiert August 2025. Das Ökosystem verlor seinen Anker.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5486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Diagnose: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verkauften 150–500-k€-Projektmaschinen in eine Forschungsnische. Niemand hat die Technologie für die Budgets produktisiert, die tatsächlich Laborgeräte kaufen.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HEUTIGE MASCHINEN DEN MARKT BEGRENZEN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Vergabeschwellen entscheiden, wer kaufen darf — heutige Preise liegen über allen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1783080"/>
            <a:ext cx="0" cy="4206240"/>
          </a:xfrm>
          <a:prstGeom prst="line">
            <a:avLst/>
          </a:prstGeom>
          <a:noFill/>
          <a:ln w="12700">
            <a:solidFill>
              <a:srgbClr val="2A36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250440"/>
            <a:ext cx="6274613" cy="0"/>
          </a:xfrm>
          <a:prstGeom prst="line">
            <a:avLst/>
          </a:prstGeom>
          <a:noFill/>
          <a:ln w="12700">
            <a:solidFill>
              <a:srgbClr val="D96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9944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DragonFly IV ≈ €400k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" y="2140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€400k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2876702"/>
            <a:ext cx="6274613" cy="0"/>
          </a:xfrm>
          <a:prstGeom prst="line">
            <a:avLst/>
          </a:prstGeom>
          <a:noFill/>
          <a:ln w="12700">
            <a:solidFill>
              <a:srgbClr val="D96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262067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Optomec Produktion ≈ 333 k€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" y="276697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€333k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3923589"/>
            <a:ext cx="6274613" cy="0"/>
          </a:xfrm>
          <a:prstGeom prst="line">
            <a:avLst/>
          </a:prstGeom>
          <a:noFill/>
          <a:ln w="12700">
            <a:solidFill>
              <a:srgbClr val="8FA0B5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932688" y="3667557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EU-Tender-Schwelle — 221 k€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9728" y="3813861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€221k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4119880"/>
            <a:ext cx="6274613" cy="0"/>
          </a:xfrm>
          <a:prstGeom prst="line">
            <a:avLst/>
          </a:prstGeom>
          <a:noFill/>
          <a:ln w="12700">
            <a:solidFill>
              <a:srgbClr val="8FA0B5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932688" y="416560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DFG-Großgeräte (Uni) — 200 k€  ·  Neotech 15X ≈ 200 k€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728" y="401015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€200k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" y="5054600"/>
            <a:ext cx="6274613" cy="0"/>
          </a:xfrm>
          <a:prstGeom prst="line">
            <a:avLst/>
          </a:prstGeom>
          <a:noFill/>
          <a:ln w="12700">
            <a:solidFill>
              <a:srgbClr val="5BBD8B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32688" y="479856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DE-Direktauftrag (2025) · DFG HAW · NSF MRI — alle ≈ 100 k€/$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9728" y="494487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€100k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" y="5381752"/>
            <a:ext cx="6675120" cy="0"/>
          </a:xfrm>
          <a:prstGeom prst="line">
            <a:avLst/>
          </a:prstGeom>
          <a:noFill/>
          <a:ln w="31750">
            <a:solidFill>
              <a:srgbClr val="E08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542747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 FIVE — €65k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" y="527202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€65k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63840" y="1783080"/>
            <a:ext cx="3776472" cy="4206240"/>
          </a:xfrm>
          <a:prstGeom prst="roundRect">
            <a:avLst>
              <a:gd name="adj" fmla="val 1332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816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 100 k€ wird ein Maschinenkauf zu etwas anderem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38160" y="2788920"/>
            <a:ext cx="310896" cy="31089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6557" y="2857317"/>
            <a:ext cx="174102" cy="17410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558784" y="27432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EU-Tender, keine DFG-Prüfung — eine Abteilungsentscheidung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138160" y="3584448"/>
            <a:ext cx="310896" cy="31089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557" y="3652845"/>
            <a:ext cx="174102" cy="17410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8558784" y="353872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in ein einzelnes US-Faculty-Startpaket (300–500 k$)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8138160" y="4379976"/>
            <a:ext cx="310896" cy="31089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557" y="4448373"/>
            <a:ext cx="174102" cy="17410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558784" y="4334256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Deutsche Direktauftragsgrenze 2025 auf 100 k€ erhöht — die Tür ist gerade aufgegangen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8138160" y="5175504"/>
            <a:ext cx="310896" cy="31089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557" y="5243901"/>
            <a:ext cx="174102" cy="17410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8558784" y="512978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Kauffenster: Wochen, keine Haushaltsjahre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LOW-COST-CHANCE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Band 25–100 k€ ist leer — für die Maschinen, auf die es ankommt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828800"/>
            <a:ext cx="3108960" cy="3977640"/>
          </a:xfrm>
          <a:prstGeom prst="roundRect">
            <a:avLst>
              <a:gd name="adj" fmla="val 161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029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· &lt;12 k€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51460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Voltera V-One  ·  ~$5k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BotFactory SV2  ·  ~$10k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nano3Dprint  ·  ~$5k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4114800"/>
            <a:ext cx="265176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25196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Planar, Education-Klasse.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5.000+ Voltera-Einheiten beweisen die Käuferbasis.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0" y="1828800"/>
            <a:ext cx="4480560" cy="3977640"/>
          </a:xfrm>
          <a:prstGeom prst="roundRect">
            <a:avLst>
              <a:gd name="adj" fmla="val 1264"/>
            </a:avLst>
          </a:prstGeom>
          <a:solidFill>
            <a:srgbClr val="1E1A12"/>
          </a:solidFill>
          <a:ln w="9525">
            <a:solidFill>
              <a:srgbClr val="E087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69080" y="20299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25–100 k€ · DIE LÜCKE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69080" y="2514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Voltera NOVA  ·  46 k$  —  nur planar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Fujifilm Dimatix  ·  ~55 k$  —  nur planar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LPKF ProtoMat  ·  subtraktives Fräsen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69080" y="4114800"/>
            <a:ext cx="402336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425196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5-Achs-/Konform-AME-System existiert hier.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definierende Fähigkeit der 3D-Elektronik fehlt</a:t>
            </a:r>
            <a:endParaRPr lang="en-US" sz="110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einzigen Band, das die Vergabe liebt.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59161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KRONOS EOS 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1828800"/>
            <a:ext cx="3136392" cy="3977640"/>
          </a:xfrm>
          <a:prstGeom prst="roundRect">
            <a:avLst>
              <a:gd name="adj" fmla="val 1603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32520" y="202996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 · &gt;150 k€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32520" y="2514600"/>
            <a:ext cx="2679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Neotech/KRONOS 15X-class · €200k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XTPL Delta  ·  €170–220k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Optomec, nScrypt  ·  €150–500k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732520" y="4114800"/>
            <a:ext cx="2679192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4251960"/>
            <a:ext cx="26791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95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Quote-only-Projektmaschinen.</a:t>
            </a:r>
            <a:endParaRPr lang="en-US" sz="9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95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Klasse, die ihren Pionier in die Insolvenz führte.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BEWEIS: DAS BAND KAUFT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Maschinen zu diesem Preis verkaufen sich tausendfach — nur additive 3D-Systeme noch nicht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5394960" cy="1920240"/>
          </a:xfrm>
          <a:prstGeom prst="roundRect">
            <a:avLst>
              <a:gd name="adj" fmla="val 2619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198424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063240" y="198424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Voltera-Einheiten in 92 Länder geliefert — Kunden u. a. NASA, MIT, Harvard, Stanford, Oxford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484632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Käuferuniversum ist real und global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45352" y="1783080"/>
            <a:ext cx="5394960" cy="1920240"/>
          </a:xfrm>
          <a:prstGeom prst="roundRect">
            <a:avLst>
              <a:gd name="adj" fmla="val 2619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198424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€26.2M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759952" y="198424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LPKF-Development-Segmentumsatz 2024 — „Tausende“ installierte ProtoMat-Benchtop-Systeme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19672" y="3154680"/>
            <a:ext cx="484632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3246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EE-Labore zahlen seit Jahrzehnten 10–60 k€ für Inhouse-Prototyping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5394960" cy="1920240"/>
          </a:xfrm>
          <a:prstGeom prst="roundRect">
            <a:avLst>
              <a:gd name="adj" fmla="val 2619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0873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130,000+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063240" y="408736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verkaufte Formlabs-Drucker nach ~10x-Preissenkung im Profi-SLA — ein 2-Mrd.-$-Unternehmen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5257800"/>
            <a:ext cx="484632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10x-Preissenkungs-Playbook funktioniert bei Profi-Maschinen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45352" y="3886200"/>
            <a:ext cx="5394960" cy="1920240"/>
          </a:xfrm>
          <a:prstGeom prst="roundRect">
            <a:avLst>
              <a:gd name="adj" fmla="val 2619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9672" y="408736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 / 13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759952" y="408736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XTPL-Delta-Systeme kumuliert / allein 2025 geliefert, bei 170–220 k€ — 71 % Forschungskunden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19672" y="5257800"/>
            <a:ext cx="484632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9672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beim 3-fachen unseres Preises beschleunigt die Forschungsnachfrage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NEUE KUNDENUNIVERSUM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~10.000 Organisationen, die nie eine 250-k€-Maschine kaufen konnten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548640" y="1691640"/>
          <a:ext cx="7406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183880" y="1691640"/>
            <a:ext cx="3456432" cy="4480560"/>
          </a:xfrm>
          <a:prstGeom prst="roundRect">
            <a:avLst>
              <a:gd name="adj" fmla="val 1455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1248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gezählt, nicht behauptet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12480" y="25146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963 forschungsaktive EE-Unis (Research.com) · 76 Fraunhofer-Institute · ZVEI 1.100+ · CLEPA 3.000+ · MedTech Europe 38.000 (90 % KMU) · in4ma 2.160 EMS · je Segment relevanzgefiltert.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12480" y="44348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412480" y="4983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Kandidaten-Organisationen — vs. ~150 Maschinen, die die Branche heute pro Jahr verkauft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MARKTSEGMENTIERUNG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Beachhead, zwei Expansionen — sequenziert nach Beschaffungsfriktion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3931920" cy="4297680"/>
          </a:xfrm>
          <a:prstGeom prst="roundRect">
            <a:avLst>
              <a:gd name="adj" fmla="val 1279"/>
            </a:avLst>
          </a:prstGeom>
          <a:solidFill>
            <a:srgbClr val="1E1A12"/>
          </a:solidFill>
          <a:ln w="9525">
            <a:solidFill>
              <a:srgbClr val="E087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1993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BEACHHEAD · JAHR 1–2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286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Forschungslabore &amp; Institute (EU/NA)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3474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~2.150 Organisationen, tender-frei unter 100 k€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 tolerant — Forschung verzeiht v1.0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Paper ist eine Gratis-Referenz (Voltera-Playbook)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KRONOS-Heimvorteil: FAPS-Cluster, LOPEC-Award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3474720" cy="4297680"/>
          </a:xfrm>
          <a:prstGeom prst="roundRect">
            <a:avLst>
              <a:gd name="adj" fmla="val 1447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993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· JAHR 2–3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R&amp;D — Elektronik, Automotive/IME, Medtech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92040" y="32004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Referenzgetriebener Einstieg aus dem Beachhead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IP-sensible Iteration bleibt im Haus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IME-Vorentwicklung ohne Werkzeugkosten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~4.800 gefilterte Organisationen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783080"/>
            <a:ext cx="3319272" cy="4297680"/>
          </a:xfrm>
          <a:prstGeom prst="roundRect">
            <a:avLst>
              <a:gd name="adj" fmla="val 1515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49640" y="199339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· JAHR 3–5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49640" y="2286000"/>
            <a:ext cx="2862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Defense- &amp; Space-Labs · Ausbildungsflotten · Kleinserie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49640" y="3200400"/>
            <a:ext cx="28620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DoD-AM-Budget: 0,3 → 0,8 → ~2,6 Mrd. $ (2030e)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 Max + Traceability über APES/NTV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Eos-One-Curriculum-Bundles</a:t>
            </a:r>
            <a:endParaRPr lang="en-US" sz="1100" dirty="0"/>
          </a:p>
          <a:p>
            <a:pPr marL="127000" indent="-127000">
              <a:lnSpc>
                <a:spcPts val="145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Produktionszellen speisen den Hyperion-Upsell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to be done — wofür eine 65-k€-5-Achs-Maschine engagiert wird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011680"/>
            <a:ext cx="402336" cy="40233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754" y="2100194"/>
            <a:ext cx="225308" cy="2253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Zuerst publizieren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„Drucke die 3D-Antenne / den konformen Sensor, den die Konkurrenzgruppe nicht kann.“ 5-Achs-Fähigkeit ist Publikations-Differenzierung — das stärkste akademische Kaufmotiv.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45352" y="178308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73952" y="2011680"/>
            <a:ext cx="402336" cy="40233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466" y="2100194"/>
            <a:ext cx="225308" cy="2253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22592" y="2057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selben Tag iterieren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473952" y="25603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„Vom CAD zur funktionalen 3D-Schaltung vor dem Abend — statt 3-Wochen-Offshore-Schleife.“ Substitute deckeln nur flache Standard-PCBs; 3D-Iteration hat kein Substitut.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4160520"/>
            <a:ext cx="402336" cy="40233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54" y="4249034"/>
            <a:ext cx="225308" cy="2253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2588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im Haus behalten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77724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„Defense, Automotive-Vorentwicklung und Medizin-Prototypen verlassen nie das Gebäude.“ ITAR-/IP-sensible Arbeit kann strukturell keine Board-Services nutzen.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245352" y="393192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73952" y="4160520"/>
            <a:ext cx="402336" cy="402336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466" y="4249034"/>
            <a:ext cx="225308" cy="2253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22592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nächste Kohorte ausbilden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473952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„Lehre industrierelevantes AME auf echter Hardware.“ Curriculum-Plätze säen die Corporate-Käufe von morgen — die LPKF-ProtoMat-Dynamik seit 40 Jahren.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WETTBEWERBSLANDSCHAFT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Allein im Quadranten, auf den es ankommt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783080"/>
            <a:ext cx="6949440" cy="4160520"/>
          </a:xfrm>
          <a:prstGeom prst="rect">
            <a:avLst/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783080"/>
            <a:ext cx="0" cy="4160520"/>
          </a:xfrm>
          <a:prstGeom prst="line">
            <a:avLst/>
          </a:prstGeom>
          <a:noFill/>
          <a:ln w="9525">
            <a:solidFill>
              <a:srgbClr val="2A364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371600" y="3863340"/>
            <a:ext cx="694944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01168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 →  hoch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" y="56235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niedrig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1600" y="6016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planar (2–2,5 Achsen)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6016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konform / 5-Achs →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7635" y="2144268"/>
            <a:ext cx="109728" cy="109728"/>
          </a:xfrm>
          <a:prstGeom prst="ellipse">
            <a:avLst/>
          </a:prstGeom>
          <a:solidFill>
            <a:srgbClr val="D96A6A"/>
          </a:solidFill>
          <a:ln/>
        </p:spPr>
      </p:sp>
      <p:sp>
        <p:nvSpPr>
          <p:cNvPr id="18" name="Text 16"/>
          <p:cNvSpPr/>
          <p:nvPr/>
        </p:nvSpPr>
        <p:spPr>
          <a:xfrm>
            <a:off x="2713939" y="207111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DragonFly IV †exit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01568" y="2643530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20" name="Text 18"/>
          <p:cNvSpPr/>
          <p:nvPr/>
        </p:nvSpPr>
        <p:spPr>
          <a:xfrm>
            <a:off x="3547872" y="257037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XTPL Delta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25389" y="2269084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22" name="Text 20"/>
          <p:cNvSpPr/>
          <p:nvPr/>
        </p:nvSpPr>
        <p:spPr>
          <a:xfrm>
            <a:off x="5771693" y="21959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nScrypt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20333" y="2643530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24" name="Text 22"/>
          <p:cNvSpPr/>
          <p:nvPr/>
        </p:nvSpPr>
        <p:spPr>
          <a:xfrm>
            <a:off x="6466637" y="257037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Optomec AJ 5X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76288" y="3101188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26" name="Text 24"/>
          <p:cNvSpPr/>
          <p:nvPr/>
        </p:nvSpPr>
        <p:spPr>
          <a:xfrm>
            <a:off x="7022592" y="30280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Neotech 15X † → KRONOS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20163" y="4307738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28" name="Text 26"/>
          <p:cNvSpPr/>
          <p:nvPr/>
        </p:nvSpPr>
        <p:spPr>
          <a:xfrm>
            <a:off x="2366467" y="423458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Dimatix DMP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845613" y="4557370"/>
            <a:ext cx="109728" cy="109728"/>
          </a:xfrm>
          <a:prstGeom prst="ellipse">
            <a:avLst/>
          </a:prstGeom>
          <a:solidFill>
            <a:srgbClr val="3FB8C9"/>
          </a:solidFill>
          <a:ln/>
        </p:spPr>
      </p:sp>
      <p:sp>
        <p:nvSpPr>
          <p:cNvPr id="30" name="Text 28"/>
          <p:cNvSpPr/>
          <p:nvPr/>
        </p:nvSpPr>
        <p:spPr>
          <a:xfrm>
            <a:off x="2991917" y="448421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Voltera NOVA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11680" y="5389474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32" name="Text 30"/>
          <p:cNvSpPr/>
          <p:nvPr/>
        </p:nvSpPr>
        <p:spPr>
          <a:xfrm>
            <a:off x="2157984" y="531632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V-One / SV2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01568" y="5056632"/>
            <a:ext cx="109728" cy="109728"/>
          </a:xfrm>
          <a:prstGeom prst="ellipse">
            <a:avLst/>
          </a:prstGeom>
          <a:solidFill>
            <a:srgbClr val="8FA0B5"/>
          </a:solidFill>
          <a:ln/>
        </p:spPr>
      </p:sp>
      <p:sp>
        <p:nvSpPr>
          <p:cNvPr id="34" name="Text 32"/>
          <p:cNvSpPr/>
          <p:nvPr/>
        </p:nvSpPr>
        <p:spPr>
          <a:xfrm>
            <a:off x="3547872" y="49834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LPKF ProtoMat (subtractive)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09437" y="4412894"/>
            <a:ext cx="731520" cy="731520"/>
          </a:xfrm>
          <a:prstGeom prst="ellipse">
            <a:avLst/>
          </a:prstGeom>
          <a:solidFill>
            <a:srgbClr val="26180C">
              <a:alpha val="80000"/>
            </a:srgbClr>
          </a:solidFill>
          <a:ln w="19050">
            <a:solidFill>
              <a:srgbClr val="E087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92901" y="4696358"/>
            <a:ext cx="164592" cy="164592"/>
          </a:xfrm>
          <a:prstGeom prst="ellipse">
            <a:avLst/>
          </a:prstGeom>
          <a:solidFill>
            <a:srgbClr val="E0873A"/>
          </a:solidFill>
          <a:ln/>
        </p:spPr>
      </p:sp>
      <p:sp>
        <p:nvSpPr>
          <p:cNvPr id="37" name="Text 35"/>
          <p:cNvSpPr/>
          <p:nvPr/>
        </p:nvSpPr>
        <p:spPr>
          <a:xfrm>
            <a:off x="5460797" y="516270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KRONOS EOS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686800" y="1783080"/>
            <a:ext cx="2953512" cy="4160520"/>
          </a:xfrm>
          <a:prstGeom prst="roundRect">
            <a:avLst>
              <a:gd name="adj" fmla="val 1703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915400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der Quadrant offen bleibt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915400" y="260604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Incumbents: Kostenstrukturen &amp; Kannibalisierungsangst blockieren Down-Market-Schritte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Voltera: 12–24 Monate Rückstand bei 5-Achs-CAM-Software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Player (Hummink, Scrona, Quantica, XTPL) zielen alle auf Sub-Mikron-/Display-/Halbleiter-Nischen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Gefahr: ein Bambu-artiger Entrant — Zeitfenster ≈ 3–5 Jahre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PRODUKTKONZEPT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KRONOS Eos — eine Plattform, drei Konfigurationen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ONE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88920" y="19568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€35k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22960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Lehren &amp; einsteigen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788920"/>
            <a:ext cx="3182112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9260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3+2-Achs indexierte Kinematik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Werkzeugkopf (Mikrodispens) + UV + FFF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±25 µm Depositionsgenauigkeit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Kamerakalibrierung · Aion-5X Lite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HAW, Colleges, Top-FabLabs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62272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E1A12"/>
          </a:solidFill>
          <a:ln w="9525">
            <a:solidFill>
              <a:srgbClr val="E087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36592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FIVE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02552" y="19568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€65k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36592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Beachhead-Produkt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2788920"/>
            <a:ext cx="3182112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29260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ECHTER 5-ACHS-SIMULTANDRUCK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Werkzeugköpfe: Piezo-Jet + Dispensing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 µm · KI-Vision-Inspektion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Aion-5X Pro · Material-Starterkit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Forschungsgruppen &amp; Corporate R&amp;D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36592" y="5596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55 % des geplanten Mixes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75904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50224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EOS MAX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616184" y="19568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€95k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650224" y="2395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F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Qualifizieren &amp; produzieren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50224" y="2788920"/>
            <a:ext cx="3182112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50224" y="292608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5-Achs + Werkzeugwechsler (bis 4 Köpfe)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SMD-Bestückmodul · Plasma-Option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 µm · Closed-Loop-QC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Traceability-Paket (defense-ready)</a:t>
            </a:r>
            <a:endParaRPr lang="en-US" sz="1050" dirty="0"/>
          </a:p>
          <a:p>
            <a:pPr marL="127000" indent="-127000">
              <a:lnSpc>
                <a:spcPts val="14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Upsell-Pfad Richtung Hyperion-Klasse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PLATTFORMSTRATEGIE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eine Plattform drei Maschinen schlägt — und die Software der Burggraben 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011680"/>
            <a:ext cx="384048" cy="384048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731" y="2096171"/>
            <a:ext cx="215067" cy="21506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98448" y="20482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Chassis, drei Stufen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" y="25328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5-Achs-Basis, B&amp;R-Steuerung, Vision-Stack. Ein Ersatzteilpool, eine CE/UL-Zertifizierung, feld-upgradefähige Stufen. F&amp;E: 3,2 M€ statt 6–8 M€ für drei Einzelmaschinen.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45352" y="178308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73952" y="2011680"/>
            <a:ext cx="384048" cy="384048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443" y="2096171"/>
            <a:ext cx="215067" cy="21506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95160" y="204825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Aion-5X ist das eigentliche Produkt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473952" y="25328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5-Achs-Depositions-CAM + Kalibrierung + KI-Inspektion brauchten ~15 Jahre. Es existiert bereits, skaliert grenzkostenfrei — und lizenziert an Dritte (APES Matrix6D).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4160520"/>
            <a:ext cx="384048" cy="384048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1" y="4245011"/>
            <a:ext cx="215067" cy="21506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98448" y="41970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Kuratiertes Materialprogramm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777240" y="468172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Silbertinte, ein Dielektrikum, zwei Polymere — qualifizierte Profile, Abo-Kits. Senkt Supportkosten, schafft die Annuität. „Experimental Mode“ erhält die Forschungsfreiheit.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245352" y="3931920"/>
            <a:ext cx="5394960" cy="1965960"/>
          </a:xfrm>
          <a:prstGeom prst="roundRect">
            <a:avLst>
              <a:gd name="adj" fmla="val 255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73952" y="4160520"/>
            <a:ext cx="384048" cy="384048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443" y="4245011"/>
            <a:ext cx="215067" cy="21506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95160" y="41970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Kannibalisierungs-Zaun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6473952" y="468172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Bauraum, Durchsatz, Autonomie und Materialbreite bleiben bei Helios/Hyperion (200 k€+). Eos Max ist als Zubringer gebaut, nicht als Killer — das Formlabs-Fuse-Muster, nicht MakerBot.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GESCHÄFTSMODELL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Maschinen öffnen den Account — die installierte Basis zahlt die Marge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548640" y="1828800"/>
          <a:ext cx="4023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548640" y="16276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Umsatzmix 2031 · Base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1783080"/>
            <a:ext cx="6702552" cy="2011680"/>
          </a:xfrm>
          <a:prstGeom prst="roundRect">
            <a:avLst>
              <a:gd name="adj" fmla="val 2500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212080" y="197510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installierte Maschine, pro Jahr (Base)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21208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€5.0k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21208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Verbrauchsmaterial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(kuratierte Tinten-Kits)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€3.6k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85800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Servicevertrag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(11 % · 50 % Attach)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503920" y="2377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€1.1k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50392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Aion-5X-Seat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(60 % Attach)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149840" y="2377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≈€10k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149840" y="29260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wiederkehrend je Einheit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wächst mit der Basis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937760" y="4023360"/>
            <a:ext cx="6702552" cy="2011680"/>
          </a:xfrm>
          <a:prstGeom prst="roundRect">
            <a:avLst>
              <a:gd name="adj" fmla="val 2500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212080" y="4215384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Finanzierung für KMU-Budgets gebaut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212080" y="4572000"/>
            <a:ext cx="6172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Leasing über Partner (Grenke/DLL-Klasse), bilanzneutral: Eos Five ≈ 1,3–1,5 k€/Monat — eine OPEX-Entscheidung. Deutsche Leasingquote: 26,1 % aller Ausrüstungsinvestitionen (BDL 2024).</a:t>
            </a:r>
            <a:endParaRPr lang="en-US" sz="1050" dirty="0"/>
          </a:p>
          <a:p>
            <a:pPr indent="0" marL="0">
              <a:lnSpc>
                <a:spcPts val="145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 Anzahlung als Standard hält das Working Capital bei 12 % des Umsatzzuwachses. Machine-as-a-Service folgt dem Carbon-Präzedenzfall (~35–45 % des Kaufpreises pro Jahr).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SAM · SOM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Bottom-up aus gezählten Organisationen — nicht aus Analysten-Schlagzeilen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920240"/>
            <a:ext cx="10515600" cy="960120"/>
          </a:xfrm>
          <a:prstGeom prst="roundRect">
            <a:avLst>
              <a:gd name="adj" fmla="val 4762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391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€1.2B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14600" y="2066544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10-Jahres-Equipment- + Attach-Potenzial · ~10.000 Organisationen weltweit × 1,3 Maschinen × 65 k€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6949440" cy="960120"/>
          </a:xfrm>
          <a:prstGeom prst="roundRect">
            <a:avLst>
              <a:gd name="adj" fmla="val 4762"/>
            </a:avLst>
          </a:prstGeom>
          <a:solidFill>
            <a:srgbClr val="202E40"/>
          </a:solidFill>
          <a:ln w="9525">
            <a:solidFill>
              <a:srgbClr val="2A36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2095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5478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€340M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14600" y="323697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+ Nordamerika, erreichbare Segmente 2027–2031 · ~4.200 Organisationen · ≈35–45 M€/Jahr bis 2031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261104"/>
            <a:ext cx="4023360" cy="960120"/>
          </a:xfrm>
          <a:prstGeom prst="roundRect">
            <a:avLst>
              <a:gd name="adj" fmla="val 4762"/>
            </a:avLst>
          </a:prstGeom>
          <a:solidFill>
            <a:srgbClr val="1E1A12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799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7183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€34M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4407408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kumuliert 5 Jahre (Base): 452 Einheiten + Attach ≈ 30 % des gereiften Bandes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559552"/>
            <a:ext cx="11091672" cy="777240"/>
          </a:xfrm>
          <a:prstGeom prst="roundRect">
            <a:avLst>
              <a:gd name="adj" fmla="val 6471"/>
            </a:avLst>
          </a:prstGeom>
          <a:solidFill>
            <a:srgbClr val="1A1616"/>
          </a:solidFill>
          <a:ln w="9525">
            <a:solidFill>
              <a:srgbClr val="4A30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7058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D9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Realitäts-Check: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gesamte heutige AME-Maschinenmarkt liegt bei ~15–28 M€/Jahr. Jeder SAM-Euro darüber hinaus unterstellt eine 5–7x-Band-Expansion bis 2031 — der Konservativ-Fall unterstellt null Expansion und ist ein dokumentiertes No-Go.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5-JAHRES-FINANZ-CASE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Case: 16 M€ Umsatz, 50 % Bruttomarge, EBITDA-Break-even 2031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graphicFrame>
        <p:nvGraphicFramePr>
          <p:cNvPr id="10" name="Chart 0" descr=""/>
          <p:cNvGraphicFramePr/>
          <p:nvPr/>
        </p:nvGraphicFramePr>
        <p:xfrm>
          <a:off x="548640" y="1783080"/>
          <a:ext cx="7223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001000" y="1783080"/>
            <a:ext cx="3639312" cy="4206240"/>
          </a:xfrm>
          <a:prstGeom prst="roundRect">
            <a:avLst>
              <a:gd name="adj" fmla="val 1382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Base-Case-Anker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→ 200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9600" y="27249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Einheiten/Jahr, 2027 → 2031 (kum. 452)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→ 50%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229600" y="36393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Bruttomarge bei COGS-Senkung 58 % → 48 %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€13.2M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229600" y="45537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Brutto-Kapitalbedarf (Cash-Tal + 15 % Puffer)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2960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XTPL-Check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229600" y="54681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Vergleichsunternehmen brauchte 15–18 M€ für 13 Einheiten/Jahr — Eos startet mit fertiger Kerntechnik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SZENARIEN &amp; RETURNS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Zukünfte, ehrlich bepreist — inklusive der, in der Sie verlieren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37360"/>
            <a:ext cx="3730752" cy="4343400"/>
          </a:xfrm>
          <a:prstGeom prst="roundRect">
            <a:avLst>
              <a:gd name="adj" fmla="val 1348"/>
            </a:avLst>
          </a:prstGeom>
          <a:solidFill>
            <a:srgbClr val="1A1616"/>
          </a:solidFill>
          <a:ln w="9525">
            <a:solidFill>
              <a:srgbClr val="4A303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1938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9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KONSERVATIV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Band-Expansion — nur heutige Nachfrage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Einheiten kum. 2031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60320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178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3072384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191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Umsatz 2031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60320" y="3191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 M€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" y="3474720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593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2031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0" y="3593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−0,9 M€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" y="3877056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995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60320" y="3995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" y="4279392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398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 / IRR (J7)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60320" y="4398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0,3x / −18 %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" y="46817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937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D9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INVESTIERBAR — das dokumentierte No-Go-Szenario, vor dem die Gates schützen.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62272" y="1737360"/>
            <a:ext cx="3730752" cy="434340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18304" y="1938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18304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expandiert 5–7x — Formlabs-kalibriert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18304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Einheiten kum. 2031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73952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452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18304" y="3072384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18304" y="3191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Umsatz 2031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73952" y="3191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16,0 M€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18304" y="3474720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593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2031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73952" y="3593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+1,1 M€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18304" y="3877056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18304" y="3995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73952" y="3995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18304" y="4279392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4398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 / IRR (J7)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73952" y="4398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2,25x / +14 %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18304" y="46817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4937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solides Geschäft der LPKF-Klasse — für sich allein unter der Venture-Schwelle.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375904" y="1737360"/>
            <a:ext cx="3730752" cy="4343400"/>
          </a:xfrm>
          <a:prstGeom prst="roundRect">
            <a:avLst>
              <a:gd name="adj" fmla="val 1348"/>
            </a:avLst>
          </a:prstGeom>
          <a:solidFill>
            <a:srgbClr val="14201A"/>
          </a:solidFill>
          <a:ln w="9525">
            <a:solidFill>
              <a:srgbClr val="2E4A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631936" y="1938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631936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Marktschaffung: Defense, IME, Attach-Ökonomie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631936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Einheiten kum. 2031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387584" y="27889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743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31936" y="3072384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31936" y="3191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Umsatz 2031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387584" y="3191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29,1 M€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631936" y="3474720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31936" y="3593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2031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0387584" y="3593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+6,8 M€ (23 %)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631936" y="3877056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31936" y="3995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0387584" y="39959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631936" y="4279392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31936" y="4398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 / IRR (J7)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10387584" y="4398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11,4x / +48 %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631936" y="46817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631936" y="4937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5BB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Venture-tauglich. ~25–30 % Wahrscheinlichkeit tragen den Erwartungswert (≈3x blended).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Community-geführt, direkt zuerst — eine Vertriebsarmee kommt später, wenn überhaupt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 · 2027–28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2860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Forschungs-Beachhead (EU/NA)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301752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LOPEC · productronica · Formnext — Award-Momentum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Paper-Referenzprogramm: Rabatt gegen Zitierbarkeit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Demo-Touren über das FAPS-/Fraunhofer-Netz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Sales + 2 Application Engineers · CAC ≈ 9 k€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62272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18304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F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 · 2028–29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18304" y="22860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Corporate-R&amp;D-Expansion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18304" y="301752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Referenzgetriebener Einstieg: ZVEI-/CLEPA-/SPECTARIS-Segmente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Kanal-Aktivierung: APES &amp; NTV (NA), Ex-Neotech-Partner (JP/AU)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 des Volumens über Distributoren mit 30 % Rabatt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 · SMTconnect · IME-Konsortien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375904" y="1783080"/>
            <a:ext cx="3730752" cy="4251960"/>
          </a:xfrm>
          <a:prstGeom prst="roundRect">
            <a:avLst>
              <a:gd name="adj" fmla="val 1348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31936" y="1993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B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C · 2029–31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31936" y="22860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· Ausbildung · Kleinserie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31936" y="301752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 Max + Traceability ins SBIR-/NextFlex-Ökosystem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Eos-One-Curriculum-Bundles für HAW &amp; Colleges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Produktionszellen-Cluster — Hyperion-Zubringer</a:t>
            </a:r>
            <a:endParaRPr lang="en-US" sz="1050" dirty="0"/>
          </a:p>
          <a:p>
            <a:pPr marL="127000" indent="-127000">
              <a:lnSpc>
                <a:spcPts val="1450"/>
              </a:lnSpc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APAC-Einstieg über reaktiviertes Distributorennetz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VALIDIERUNGSFAHRPLAN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Sechs Gates, harte Kill-Kriterien — 2,5 M€ kaufen die Wahrheit vor der Fabrik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9C6A3E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9C6A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331720"/>
            <a:ext cx="10424160" cy="0"/>
          </a:xfrm>
          <a:prstGeom prst="line">
            <a:avLst/>
          </a:prstGeom>
          <a:noFill/>
          <a:ln w="12700">
            <a:solidFill>
              <a:srgbClr val="2A36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25296" y="2203704"/>
            <a:ext cx="256032" cy="256032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Interviews · ≥30 % budgetgedeckte Kaufabsicht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35808" y="2203704"/>
            <a:ext cx="256032" cy="256032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35808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Demand-Test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 LOIs (3 mit Anzahlungsabsicht) · Preistest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2203704"/>
            <a:ext cx="256032" cy="256032"/>
          </a:xfrm>
          <a:prstGeom prst="ellipse">
            <a:avLst/>
          </a:prstGeom>
          <a:solidFill>
            <a:srgbClr val="E0873A"/>
          </a:solidFill>
          <a:ln w="12700">
            <a:solidFill>
              <a:srgbClr val="E08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0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79392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M4–9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87952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 &amp; IP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87952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≤26 k€ · Patent-Titel geklärt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56832" y="2203704"/>
            <a:ext cx="256032" cy="256032"/>
          </a:xfrm>
          <a:prstGeom prst="ellipse">
            <a:avLst/>
          </a:prstGeom>
          <a:solidFill>
            <a:srgbClr val="131A24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9904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M9–15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98464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Design-Partner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98464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bezahlte Piloten · ≥4 Abnahmen · Service &lt;10 %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467344" y="2203704"/>
            <a:ext cx="256032" cy="256032"/>
          </a:xfrm>
          <a:prstGeom prst="ellipse">
            <a:avLst/>
          </a:prstGeom>
          <a:solidFill>
            <a:srgbClr val="131A24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67344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00416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M15–22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08976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Pilotflotte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08976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Maschinen · ≥30 Pre-Orders · Ausfälle &lt;5 %/Q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277856" y="2203704"/>
            <a:ext cx="256032" cy="256032"/>
          </a:xfrm>
          <a:prstGeom prst="ellipse">
            <a:avLst/>
          </a:prstGeom>
          <a:solidFill>
            <a:srgbClr val="131A24"/>
          </a:solidFill>
          <a:ln w="12700">
            <a:solidFill>
              <a:srgbClr val="5A6A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77856" y="22128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10928" y="18288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M22–27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619488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Serienfreigabe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19488" y="2889504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Stückkosten im Plan · Liefertreue &gt;90 %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3977640"/>
            <a:ext cx="3730752" cy="2057400"/>
          </a:xfrm>
          <a:prstGeom prst="roundRect">
            <a:avLst>
              <a:gd name="adj" fmla="val 2444"/>
            </a:avLst>
          </a:prstGeom>
          <a:solidFill>
            <a:srgbClr val="1E1A12"/>
          </a:solidFill>
          <a:ln w="9525">
            <a:solidFill>
              <a:srgbClr val="E087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04672" y="41788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TRANCHE 1 — 2,5 M€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04672" y="45262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· finanziert G0–G4 bis zur Pilotflotte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4672" y="49103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" y="502005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einzige heute erbetene Commitment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462272" y="3977640"/>
            <a:ext cx="3730752" cy="2057400"/>
          </a:xfrm>
          <a:prstGeom prst="roundRect">
            <a:avLst>
              <a:gd name="adj" fmla="val 2444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18304" y="41788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TRANCHE 2 — 4,5 M€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718304" y="45262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 · Industrialisierung &amp; Launch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18304" y="49103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502005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Freigeschaltet durch: ≥10 LOIs · BOM ≤26 k€ · IP geklärt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375904" y="3977640"/>
            <a:ext cx="3730752" cy="2057400"/>
          </a:xfrm>
          <a:prstGeom prst="roundRect">
            <a:avLst>
              <a:gd name="adj" fmla="val 2444"/>
            </a:avLst>
          </a:prstGeom>
          <a:solidFill>
            <a:srgbClr val="1A2432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631936" y="41788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TRANCHE 3 — 4–5 M€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631936" y="45262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2029 · Skalierung &amp; Kanalausbau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631936" y="4910328"/>
            <a:ext cx="3218688" cy="0"/>
          </a:xfrm>
          <a:prstGeom prst="line">
            <a:avLst/>
          </a:prstGeom>
          <a:noFill/>
          <a:ln w="6350">
            <a:solidFill>
              <a:srgbClr val="2A36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31936" y="5020056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Freigeschaltet durch: ≥60 verkaufte Einheiten · GM ≥42 % · Service &lt;8 %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INVESTMENT-THESE — ENTSCHEIDUNG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Substanz vor Optimismus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05695" y="566928"/>
            <a:ext cx="1005840" cy="0"/>
          </a:xfrm>
          <a:prstGeom prst="line">
            <a:avLst/>
          </a:prstGeom>
          <a:noFill/>
          <a:ln w="12700">
            <a:solidFill>
              <a:srgbClr val="E08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11535" y="566928"/>
            <a:ext cx="502920" cy="320040"/>
          </a:xfrm>
          <a:prstGeom prst="line">
            <a:avLst/>
          </a:prstGeom>
          <a:noFill/>
          <a:ln w="12700">
            <a:solidFill>
              <a:srgbClr val="E087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59975" y="53492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7" name="Shape 5"/>
          <p:cNvSpPr/>
          <p:nvPr/>
        </p:nvSpPr>
        <p:spPr>
          <a:xfrm>
            <a:off x="10879531" y="53492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8" name="Shape 6"/>
          <p:cNvSpPr/>
          <p:nvPr/>
        </p:nvSpPr>
        <p:spPr>
          <a:xfrm>
            <a:off x="11414455" y="886968"/>
            <a:ext cx="457200" cy="0"/>
          </a:xfrm>
          <a:prstGeom prst="line">
            <a:avLst/>
          </a:prstGeom>
          <a:noFill/>
          <a:ln w="12700">
            <a:solidFill>
              <a:srgbClr val="E087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39651" y="854964"/>
            <a:ext cx="64008" cy="64008"/>
          </a:xfrm>
          <a:prstGeom prst="rect">
            <a:avLst/>
          </a:prstGeom>
          <a:solidFill>
            <a:srgbClr val="E0873A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37360"/>
            <a:ext cx="6675120" cy="4343400"/>
          </a:xfrm>
          <a:prstGeom prst="roundRect">
            <a:avLst>
              <a:gd name="adj" fmla="val 1158"/>
            </a:avLst>
          </a:prstGeom>
          <a:solidFill>
            <a:srgbClr val="1E1A12"/>
          </a:solidFill>
          <a:ln w="9525">
            <a:solidFill>
              <a:srgbClr val="E0873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19385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8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WETTE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4028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2,5 M€ kauft der Investor die Option auf die einzige unbesetzte Formlabs-Position der 3D-gedruckten Elektronik — bewiesene 5-Achs-Technologie, ein leeres Preisband, ein bereinigtes Feld und Vergaberegeln, die sich gerade zu ihren Gunsten gedreht haben.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80" y="3501420"/>
            <a:ext cx="184343" cy="18434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338328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— unter Bedingungen  — 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nach drei Pre-Closing-Prüfungen committen: IP-Titel, Bindung des Software-Teams, saubere Insolvenz-Altlasten.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4325112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80" y="4397532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80160" y="4279392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 an den Gates, wenn  — 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 LOIs in 6 Monaten · BOM &gt;32 k€ · NOVA-Proxy &lt;30 Einheiten/Jahr · Servicekosten &gt;12 % in Piloten.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22960" y="5221224"/>
            <a:ext cx="329184" cy="329184"/>
          </a:xfrm>
          <a:prstGeom prst="ellipse">
            <a:avLst/>
          </a:prstGeom>
          <a:solidFill>
            <a:srgbClr val="202E40"/>
          </a:solidFill>
          <a:ln w="6350">
            <a:solidFill>
              <a:srgbClr val="2A364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80" y="5293644"/>
            <a:ext cx="184343" cy="1843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5175504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EA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 NICHT investieren, wenn  —  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einen sicheren Venture-Return brauchen: Nur der Upside-Pfad (~25–30 % Wahrscheinlichkeit) ist venture-tauglich. Das ist eine Option, kein Versprechen.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498080" y="1737360"/>
            <a:ext cx="4142232" cy="4343400"/>
          </a:xfrm>
          <a:prstGeom prst="roundRect">
            <a:avLst>
              <a:gd name="adj" fmla="val 1214"/>
            </a:avLst>
          </a:prstGeom>
          <a:solidFill>
            <a:srgbClr val="131A24"/>
          </a:solidFill>
          <a:ln w="9525">
            <a:solidFill>
              <a:srgbClr val="2A364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77240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DER SKEPTIKER SAGT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77240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8229600" y="23042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Vorgänger scheiterte oder blieb klein — vielleicht ist die Lücke fehlende Nachfrage, kein Marktversagen.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772400" y="3127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8229600" y="314553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verifizierte KRONOS-Verkäufe seit Relaunch — die Ausführung durch ein ~6-Personen-Team ist unbewiesen.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77724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8229600" y="3986784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Akademische Beachheads sind förderzyklisch und bestellen nicht nach — der Corporate-/Defense-Sprung muss aktiv gelingen.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772400" y="4809744"/>
            <a:ext cx="3611880" cy="0"/>
          </a:xfrm>
          <a:prstGeom prst="line">
            <a:avLst/>
          </a:prstGeom>
          <a:noFill/>
          <a:ln w="9525">
            <a:solidFill>
              <a:srgbClr val="2A364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772400" y="4919472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E0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Argumente werden nicht weggewischt — sie sind die Gates. Halten sie, ist der Verlust 2,5 M€ und ein sauberer Stopp. Fallen sie, ist die Position kategorie-definierend.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548640" y="64739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KRONOS EOS</a:t>
            </a:r>
            <a:pPr indent="0" marL="0">
              <a:buNone/>
            </a:pPr>
            <a:r>
              <a:rPr lang="en-US" sz="850" spc="200" kern="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Investment Case   ·   </a:t>
            </a:r>
            <a:pPr indent="0" marL="0">
              <a:buNone/>
            </a:pPr>
            <a:r>
              <a:rPr lang="en-US" sz="850" b="1" spc="200" kern="0" dirty="0">
                <a:solidFill>
                  <a:srgbClr val="9C6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2026-08-15T09:51:46Z</dcterms:created>
  <dcterms:modified xsi:type="dcterms:W3CDTF">2026-08-15T09:51:46Z</dcterms:modified>
</cp:coreProperties>
</file>